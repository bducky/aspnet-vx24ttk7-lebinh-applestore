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và các bạn. Em là Lê Bình, lớp VX24TTK7. Đề tài của em là xây dựng website bán sản phẩm công nghệ Apple bằng ASP.NET Core MVC, dưới sự hướng dẫn của thầy Nguyễn Nhứt Lam.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tài có ba mục tiêu. Một là một cửa hàng trực tuyến hoàn chỉnh cho khách. Hai là trang quản trị cho admin và nhân viên. Ba, và quan trọng với môn học, là vận dụng đúng các cơ chế có sẵn của ASP.NET Core thay vì tự viết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Nền tảng là .NET 10 với ASP.NET Core MVC. Dữ liệu dùng EF Core theo kiểu Code-First, khi phát triển chạy SQLite nhưng kiểu dữ liệu đặt theo SQL Server để sau này chuyển sang dễ dàng. Tài khoản dùng ASP.NET Core Identity. Kiểm thử có hai lớp: xUnit chạy app trong bộ nhớ, và Playwright điều khiển trình duyệt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Mã nguồn chia ba dự án. Web chỉ lo giao diện và điều hướng. Infrastructure giữ dữ liệu và các service nghiệp vụ. Domain chỉ có entity, không phụ thuộc gì. Phụ thuộc đi một chiều từ Web xuống Domain. Mỗi quy tắc nghiệp vụ có đúng một chỗ giữ, để các trang không thể lệch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Đặc tả có 37 use case chia cho bốn tác nhân. Em đã làm xong cả 37. Hai use case cuối là nhập kho và bán tại quầy của nhân viên, em sẽ trình bày ở phần kết quả. Số trên mỗi thẻ là số use case của nhóm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sở dữ liệu giữ đúng 24 bảng của đặc tả và thêm năm phần có lý do rõ ràng: bảng voucher vì đặc tả mô tả quy tắc voucher mà không có chỗ lưu, cột Kind để khuyến mãi dùng chung bảng voucher, bảng lịch sử đổi giá theo BM_PRICE_01, phiếu nhập kho, và bảng khóa tra cứu đơn sau 5 lần nhập sai số điện thoại. Đơn bán tại quầy dùng chung bảng Orders, chỉ thêm cột kênh bán, người bán và khóa form để không lưu trùng. Mọi thay đổi đều đi qua EF Core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trang cấu hình sản phẩm. Khách chọn màu và vùng, giá đổi ngay. Khi có khuyến mãi, giá cũ được gạch ngang và hiện tên chương trình. Khách cũng có thể so sánh tối đa ba sản phẩm mà không cần đăng nhập.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Bên trái là ô voucher và ba cách thanh toán, bên phải là tổng đơn sau khi áp voucher WELCOME10. Khi đặt hàng, ba việc trừ kho, dùng voucher và xóa giỏ chạy trong một transaction, nên hoặc thành công hết hoặc không có gì thay đổi. Nếu giá hay khuyến mãi đổi trong lúc khách đang mở trang, hệ thống hiện tổng mới để khách xác nhận lại. VNPay và MoMo đi qua một cổng giả lập ký số theo cách của VNPay vì không có tài khoản sandbox.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trang chi tiết đơn của nhân viên. Đơn này đang giao với mã vận đơn GHN, nên nút tiếp theo là đánh dấu đã giao. Các bước chuyển trạng thái nằm trong một bảng quy tắc duy nhất. Nếu hai nhân viên cùng bấm một lúc thì chỉ một lần có hiệu lực.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Báo cáo doanh thu chỉ tính đơn đã thanh toán và không bị hủy, gom theo ngày giờ Việt Nam. Dòng bên dưới các thẻ cho biết tổng trước giảm giá, số tiền giảm, và các đơn chưa thanh toán không được tính. Có xuất Excel bằng ClosedXML và in PDF qua trang in của trình duyệt.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Khuyến mãi tự áp dụng theo thời gian, không cần tiến trình chạy nền: giá đang bán được tính tại lúc đọc, ở một chỗ duy nhất là SalePrices, nên danh sách, trang sản phẩm, giỏ hàng và đơn hàng luôn khớp nhau. Phía trên là chương trình giảm 5 phần trăm, phía dưới là giá trên trang sản phẩm khi chương trình đang chạy. Hai chương trình chồng lên nhau thì lấy mức giảm lớn nhất, voucher tính tiếp trên giá đã giảm.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Đổi giá hàng loạt theo BM_PRICE_01. Ở đây Mac Mini vừa tăng 2 phần trăm, mỗi giá được làm tròn đến nghìn đồng và ghi một dòng lịch sử. Nếu có một giá về 0, hoặc có người sửa cùng lúc, thì không đổi gì cả. Lúc kiểm tra trên dữ liệu thật em gặp lỗi: các biến thể cũ đã ngừng bán có giá vài trăm đồng, làm tròn về 0 và chặn cả danh mục Watch. Cách sửa là chỉ đổi biến thể đang bán, có test giữ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20, nhập kho. Mỗi phiếu có nhà cung cấp và nhiều dòng, mỗi dòng ghi số lượng, giá nhập, và tồn kho trước và sau. Khi kiểm tra trên trình duyệt em phát hiện nếu bấm Back rồi lưu lại thì kho bị cộng hai lần. Em sửa bằng một khóa riêng cho mỗi form, lần lưu thứ hai sẽ mở lại phiếu đã lưu thay vì tạo phiếu mới.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21, bán tại quầy. Nhân viên chọn sản phẩm, bấm báo giá để xem giá đang bán, rồi hoàn tất. Đơn được ghi vào bảng Orders với kênh Tại quầy, nên báo cáo doanh thu tự tính luôn. Nếu khách có tài khoản, nhập email để đơn hiện trong lịch sử của khách. Nếu giá đổi sau khi đã báo giá, hệ thống báo lại thay vì tính tiền theo giá mới mà nhân viên chưa thấy.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Môn học chấm phần ASP.NET, nên em ưu tiên cơ chế có sẵn. Identity lo đăng nhập và vai trò. Areas và Authorize chia khu quản trị theo vai trò. EF Core migrations tạo cơ sở dữ liệu. Mọi form có token chống giả mạo. Cấu hình được kiểm tra ngay khi ứng dụng khởi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chức năng có logic đều viết test fail trước. Ngoài 647 test tự động, 16 script Playwright chạy app thật trên trình duyệt; riêng một script kiểm tra mọi trang ở năm cỡ màn hình, từ điện thoại nhỏ đến máy tính. Em còn cố tình làm hỏng code để chắc chắn test bắt được lỗi. Các lỗi tìm ra trong quá trình này đều được ghi lại và sửa có test kèm theo. Có 28 pull request đã merge, từ PR 12 đến PR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nói rõ các hạn chế: thanh toán online mới là giả lập, chưa giới hạn số lần xin gửi mã OTP, và mới chạy trên SQLite. Đoán mã OTP thì đã khóa sau 5 lần sai, và tra cứu đơn cũng khóa 5 phút sau 5 lần nhập sai số điện thoại. Hướng phát triển đi thẳng vào các điểm đó, dùng tiếp các cơ chế có sẵn như rate limiting của ASP.NET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cảm ơn thầy và các bạn đã lắng nghe. Em xin nhận câu hỏi. Nếu được, em có thể demo trực tiếp: đặt một đơn hàng, áp voucher, rồi vào trang quản trị xác nhận và xem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E0F1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2245320"/>
            <a:ext cx="3048000" cy="893961"/>
          </a:xfrm>
          <a:prstGeom prst="rect">
            <a:avLst/>
          </a:prstGeom>
          <a:noFill/>
          <a:ln/>
        </p:spPr>
        <p:txBody>
          <a:bodyPr wrap="square" lIns="0" tIns="0" rIns="0" bIns="0" rtlCol="0" anchor="t"/>
          <a:lstStyle>
            <a:lvl1pPr algn="l" indent="0" marL="0">
              <a:lnSpc>
                <a:spcPct val="115000"/>
              </a:lnSpc>
              <a:buNone/>
              <a:defRPr lang="en-US" sz="3200" dirty="0">
                <a:solidFill>
                  <a:srgbClr val="F4F2EC"/>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3444081"/>
            <a:ext cx="10566400" cy="2601119"/>
          </a:xfrm>
          <a:prstGeom prst="rect">
            <a:avLst/>
          </a:prstGeom>
          <a:noFill/>
          <a:ln/>
        </p:spPr>
        <p:txBody>
          <a:bodyPr wrap="square" lIns="0" tIns="0" rIns="0" bIns="0" rtlCol="0" anchor="t"/>
          <a:lstStyle>
            <a:lvl1pPr algn="l" indent="0" marL="0">
              <a:lnSpc>
                <a:spcPct val="140000"/>
              </a:lnSpc>
              <a:buNone/>
              <a:defRPr lang="en-US" sz="1600" dirty="0">
                <a:solidFill>
                  <a:srgbClr val="C9CCD6"/>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2245320"/>
            <a:ext cx="3048000" cy="893961"/>
          </a:xfrm>
          <a:prstGeom prst="rect">
            <a:avLst/>
          </a:prstGeom>
          <a:noFill/>
          <a:ln/>
        </p:spPr>
        <p:txBody>
          <a:bodyPr wrap="square" lIns="0" tIns="0" rIns="0" bIns="0" rtlCol="0" anchor="t"/>
          <a:lstStyle>
            <a:lvl1pPr algn="l" indent="0" marL="0">
              <a:lnSpc>
                <a:spcPct val="115000"/>
              </a:lnSpc>
              <a:buNone/>
              <a:defRPr lang="en-US" sz="3200" dirty="0">
                <a:solidFill>
                  <a:srgbClr val="F4F2EC"/>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3444081"/>
            <a:ext cx="10566400" cy="2601119"/>
          </a:xfrm>
          <a:prstGeom prst="rect">
            <a:avLst/>
          </a:prstGeom>
          <a:noFill/>
          <a:ln/>
        </p:spPr>
        <p:txBody>
          <a:bodyPr wrap="square" lIns="0" tIns="0" rIns="0" bIns="0" rtlCol="0" anchor="t"/>
          <a:lstStyle>
            <a:lvl1pPr algn="l" indent="0" marL="0">
              <a:lnSpc>
                <a:spcPct val="140000"/>
              </a:lnSpc>
              <a:buNone/>
              <a:defRPr lang="en-US" sz="1600" dirty="0">
                <a:solidFill>
                  <a:srgbClr val="F4F2EC"/>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2245320"/>
            <a:ext cx="3048000" cy="893961"/>
          </a:xfrm>
          <a:prstGeom prst="rect">
            <a:avLst/>
          </a:prstGeom>
          <a:noFill/>
          <a:ln/>
        </p:spPr>
        <p:txBody>
          <a:bodyPr wrap="square" lIns="0" tIns="0" rIns="0" bIns="0" rtlCol="0" anchor="t"/>
          <a:lstStyle>
            <a:lvl1pPr algn="l" indent="0" marL="0">
              <a:lnSpc>
                <a:spcPct val="115000"/>
              </a:lnSpc>
              <a:buNone/>
              <a:defRPr lang="en-US" sz="3200" dirty="0">
                <a:solidFill>
                  <a:srgbClr val="F4F2EC"/>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3444081"/>
            <a:ext cx="10566400" cy="2601119"/>
          </a:xfrm>
          <a:prstGeom prst="rect">
            <a:avLst/>
          </a:prstGeom>
          <a:noFill/>
          <a:ln/>
        </p:spPr>
        <p:txBody>
          <a:bodyPr wrap="square" lIns="0" tIns="0" rIns="0" bIns="0" rtlCol="0" anchor="t"/>
          <a:lstStyle>
            <a:lvl1pPr algn="l" indent="0" marL="0">
              <a:lnSpc>
                <a:spcPct val="140000"/>
              </a:lnSpc>
              <a:buNone/>
              <a:defRPr lang="en-US" sz="1600" dirty="0">
                <a:solidFill>
                  <a:srgbClr val="7FA2FF"/>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0F1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2245320"/>
            <a:ext cx="3048000" cy="893961"/>
          </a:xfrm>
          <a:prstGeom prst="rect">
            <a:avLst/>
          </a:prstGeom>
          <a:noFill/>
          <a:ln/>
        </p:spPr>
        <p:txBody>
          <a:bodyPr wrap="square" lIns="0" tIns="0" rIns="0" bIns="0" rtlCol="0" anchor="t"/>
          <a:lstStyle>
            <a:lvl1pPr algn="l" indent="0" marL="0">
              <a:lnSpc>
                <a:spcPct val="115000"/>
              </a:lnSpc>
              <a:buNone/>
              <a:defRPr lang="en-US" sz="3200" dirty="0">
                <a:solidFill>
                  <a:srgbClr val="F4F2EC"/>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3444081"/>
            <a:ext cx="10566400" cy="2601119"/>
          </a:xfrm>
          <a:prstGeom prst="rect">
            <a:avLst/>
          </a:prstGeom>
          <a:noFill/>
          <a:ln/>
        </p:spPr>
        <p:txBody>
          <a:bodyPr wrap="square" lIns="0" tIns="0" rIns="0" bIns="0" rtlCol="0" anchor="t"/>
          <a:lstStyle>
            <a:lvl1pPr algn="l" indent="0" marL="0">
              <a:lnSpc>
                <a:spcPct val="140000"/>
              </a:lnSpc>
              <a:buNone/>
              <a:defRPr lang="en-US" sz="1600" dirty="0">
                <a:solidFill>
                  <a:srgbClr val="C9CCD6"/>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7FA2FF"/>
                </a:solidFill>
                <a:latin typeface="Be Vietnam Pro" pitchFamily="34" charset="0"/>
                <a:ea typeface="Be Vietnam Pro" pitchFamily="34" charset="-122"/>
                <a:cs typeface="Be Vietnam Pro" pitchFamily="34" charset="-120"/>
              </a:rPr>
              <a:t>ĐỒ ÁN MÔN HỌC: CHUYÊN ĐỀ ASP.NET · HỌC KỲ 7, NĂM HỌC 2026</a:t>
            </a:r>
            <a:endParaRPr lang="en-US" sz="1400" dirty="0"/>
          </a:p>
        </p:txBody>
      </p:sp>
      <p:sp>
        <p:nvSpPr>
          <p:cNvPr id="3" name="Text 1"/>
          <p:cNvSpPr/>
          <p:nvPr/>
        </p:nvSpPr>
        <p:spPr>
          <a:xfrm>
            <a:off x="812800" y="116324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ACB8"/>
                </a:solidFill>
                <a:latin typeface="Be Vietnam Pro" pitchFamily="34" charset="0"/>
                <a:ea typeface="Be Vietnam Pro" pitchFamily="34" charset="-122"/>
                <a:cs typeface="Be Vietnam Pro" pitchFamily="34" charset="-120"/>
              </a:rPr>
              <a:t>Trường Kỹ thuật và Công nghệ · Khoa Công nghệ Thông tin</a:t>
            </a:r>
            <a:endParaRPr lang="en-US" sz="1400" dirty="0"/>
          </a:p>
        </p:txBody>
      </p:sp>
      <p:sp>
        <p:nvSpPr>
          <p:cNvPr id="4" name="Text 2"/>
          <p:cNvSpPr/>
          <p:nvPr>
            <p:ph type="title"/>
          </p:nvPr>
        </p:nvSpPr>
        <p:spPr>
          <a:xfrm>
            <a:off x="812800" y="238254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F4F2EC"/>
                </a:solidFill>
                <a:latin typeface="Be Vietnam Pro" pitchFamily="34" charset="0"/>
                <a:ea typeface="Be Vietnam Pro" pitchFamily="34" charset="-122"/>
                <a:cs typeface="Be Vietnam Pro" pitchFamily="34" charset="-120"/>
              </a:rPr>
              <a:t>Website bán sản phẩm</a:t>
            </a:r>
            <a:endParaRPr lang="en-US" sz="6000" dirty="0"/>
          </a:p>
          <a:p>
            <a:pPr algn="l" indent="0" marL="0">
              <a:lnSpc>
                <a:spcPts val="6300"/>
              </a:lnSpc>
              <a:buNone/>
            </a:pPr>
            <a:r>
              <a:rPr lang="en-US" sz="6000" b="1" i="0" spc="-100" kern="0" dirty="0">
                <a:solidFill>
                  <a:srgbClr val="F4F2EC"/>
                </a:solidFill>
                <a:latin typeface="Be Vietnam Pro" pitchFamily="34" charset="0"/>
                <a:ea typeface="Be Vietnam Pro" pitchFamily="34" charset="-122"/>
                <a:cs typeface="Be Vietnam Pro" pitchFamily="34" charset="-120"/>
              </a:rPr>
              <a:t>công nghệ Apple</a:t>
            </a:r>
            <a:endParaRPr lang="en-US" sz="6000" dirty="0"/>
          </a:p>
        </p:txBody>
      </p:sp>
      <p:sp>
        <p:nvSpPr>
          <p:cNvPr id="5" name="Text 3"/>
          <p:cNvSpPr/>
          <p:nvPr/>
        </p:nvSpPr>
        <p:spPr>
          <a:xfrm>
            <a:off x="812800" y="413514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9CCD6"/>
                </a:solidFill>
                <a:latin typeface="Be Vietnam Pro" pitchFamily="34" charset="0"/>
                <a:ea typeface="Be Vietnam Pro" pitchFamily="34" charset="-122"/>
                <a:cs typeface="Be Vietnam Pro" pitchFamily="34" charset="-120"/>
              </a:rPr>
              <a:t>Apple Store, xây dựng bằng ASP.NET Core MVC</a:t>
            </a:r>
            <a:endParaRPr lang="en-US" sz="2200" dirty="0"/>
          </a:p>
        </p:txBody>
      </p:sp>
      <p:sp>
        <p:nvSpPr>
          <p:cNvPr id="6" name="Text 4"/>
          <p:cNvSpPr/>
          <p:nvPr/>
        </p:nvSpPr>
        <p:spPr>
          <a:xfrm>
            <a:off x="812800" y="5496620"/>
            <a:ext cx="22217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ACB8"/>
                </a:solidFill>
                <a:latin typeface="Be Vietnam Pro" pitchFamily="34" charset="0"/>
                <a:ea typeface="Be Vietnam Pro" pitchFamily="34" charset="-122"/>
                <a:cs typeface="Be Vietnam Pro" pitchFamily="34" charset="-120"/>
              </a:rPr>
              <a:t>Giảng viên hướng dẫn</a:t>
            </a:r>
            <a:endParaRPr lang="en-US" sz="1200" dirty="0"/>
          </a:p>
        </p:txBody>
      </p:sp>
      <p:sp>
        <p:nvSpPr>
          <p:cNvPr id="7" name="Text 5"/>
          <p:cNvSpPr/>
          <p:nvPr/>
        </p:nvSpPr>
        <p:spPr>
          <a:xfrm>
            <a:off x="812800" y="5760740"/>
            <a:ext cx="2588419"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2EC"/>
                </a:solidFill>
                <a:latin typeface="Be Vietnam Pro" pitchFamily="34" charset="0"/>
                <a:ea typeface="Be Vietnam Pro" pitchFamily="34" charset="-122"/>
                <a:cs typeface="Be Vietnam Pro" pitchFamily="34" charset="-120"/>
              </a:rPr>
              <a:t>TS. Nguyễn Nhứt Lam</a:t>
            </a:r>
            <a:endParaRPr lang="en-US" sz="1600" dirty="0"/>
          </a:p>
        </p:txBody>
      </p:sp>
      <p:sp>
        <p:nvSpPr>
          <p:cNvPr id="8" name="Text 6"/>
          <p:cNvSpPr/>
          <p:nvPr/>
        </p:nvSpPr>
        <p:spPr>
          <a:xfrm>
            <a:off x="3579416" y="5496620"/>
            <a:ext cx="44505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ACB8"/>
                </a:solidFill>
                <a:latin typeface="Be Vietnam Pro" pitchFamily="34" charset="0"/>
                <a:ea typeface="Be Vietnam Pro" pitchFamily="34" charset="-122"/>
                <a:cs typeface="Be Vietnam Pro" pitchFamily="34" charset="-120"/>
              </a:rPr>
              <a:t>Sinh viên thực hiện</a:t>
            </a:r>
            <a:endParaRPr lang="en-US" sz="1200" dirty="0"/>
          </a:p>
        </p:txBody>
      </p:sp>
      <p:sp>
        <p:nvSpPr>
          <p:cNvPr id="9" name="Text 7"/>
          <p:cNvSpPr/>
          <p:nvPr/>
        </p:nvSpPr>
        <p:spPr>
          <a:xfrm>
            <a:off x="3579416" y="5760740"/>
            <a:ext cx="518505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2EC"/>
                </a:solidFill>
                <a:latin typeface="Be Vietnam Pro" pitchFamily="34" charset="0"/>
                <a:ea typeface="Be Vietnam Pro" pitchFamily="34" charset="-122"/>
                <a:cs typeface="Be Vietnam Pro" pitchFamily="34" charset="-120"/>
              </a:rPr>
              <a:t>Lê Bình · MSSV 470124170 · Lớp VX24TTK7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BE0"/>
                </a:solidFill>
                <a:latin typeface="Be Vietnam Pro" pitchFamily="34" charset="0"/>
                <a:ea typeface="Be Vietnam Pro" pitchFamily="34" charset="-122"/>
                <a:cs typeface="Be Vietnam Pro" pitchFamily="34" charset="-120"/>
              </a:rPr>
              <a:t>GIỚI THIỆU</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61C"/>
                </a:solidFill>
                <a:latin typeface="Be Vietnam Pro" pitchFamily="34" charset="0"/>
                <a:ea typeface="Be Vietnam Pro" pitchFamily="34" charset="-122"/>
                <a:cs typeface="Be Vietnam Pro" pitchFamily="34" charset="-120"/>
              </a:rPr>
              <a:t>Mục tiêu đề tài</a:t>
            </a:r>
            <a:endParaRPr lang="en-US" sz="3600" dirty="0"/>
          </a:p>
        </p:txBody>
      </p:sp>
      <p:sp>
        <p:nvSpPr>
          <p:cNvPr id="4" name="Shape 2"/>
          <p:cNvSpPr/>
          <p:nvPr/>
        </p:nvSpPr>
        <p:spPr>
          <a:xfrm>
            <a:off x="815975" y="1989336"/>
            <a:ext cx="3380284" cy="2120702"/>
          </a:xfrm>
          <a:prstGeom prst="roundRect">
            <a:avLst>
              <a:gd name="adj" fmla="val 5839"/>
            </a:avLst>
          </a:prstGeom>
          <a:solidFill>
            <a:srgbClr val="FFFFFF"/>
          </a:solidFill>
          <a:ln w="6350">
            <a:solidFill>
              <a:srgbClr val="DDD9CF"/>
            </a:solidFill>
            <a:prstDash val="solid"/>
          </a:ln>
        </p:spPr>
      </p:sp>
      <p:pic>
        <p:nvPicPr>
          <p:cNvPr id="5" name="Image 0" descr="Globe">    </p:cNvPr>
          <p:cNvPicPr>
            <a:picLocks noChangeAspect="1"/>
          </p:cNvPicPr>
          <p:nvPr/>
        </p:nvPicPr>
        <p:blipFill>
          <a:blip r:embed="rId1"/>
          <a:srcRect l="0" r="0" t="0" b="0"/>
          <a:stretch/>
        </p:blipFill>
        <p:spPr>
          <a:xfrm>
            <a:off x="1073150" y="2246511"/>
            <a:ext cx="355600" cy="355600"/>
          </a:xfrm>
          <a:prstGeom prst="rect">
            <a:avLst/>
          </a:prstGeom>
        </p:spPr>
      </p:pic>
      <p:sp>
        <p:nvSpPr>
          <p:cNvPr id="6" name="Text 3"/>
          <p:cNvSpPr/>
          <p:nvPr/>
        </p:nvSpPr>
        <p:spPr>
          <a:xfrm>
            <a:off x="1073150" y="2703711"/>
            <a:ext cx="295191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61C"/>
                </a:solidFill>
                <a:latin typeface="Be Vietnam Pro" pitchFamily="34" charset="0"/>
                <a:ea typeface="Be Vietnam Pro" pitchFamily="34" charset="-122"/>
                <a:cs typeface="Be Vietnam Pro" pitchFamily="34" charset="-120"/>
              </a:rPr>
              <a:t>Cửa hàng trực tuyến</a:t>
            </a:r>
            <a:endParaRPr lang="en-US" sz="1800" dirty="0"/>
          </a:p>
        </p:txBody>
      </p:sp>
      <p:sp>
        <p:nvSpPr>
          <p:cNvPr id="7" name="Text 4"/>
          <p:cNvSpPr/>
          <p:nvPr/>
        </p:nvSpPr>
        <p:spPr>
          <a:xfrm>
            <a:off x="1073150" y="3079552"/>
            <a:ext cx="295191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060"/>
                </a:solidFill>
                <a:latin typeface="Be Vietnam Pro" pitchFamily="34" charset="0"/>
                <a:ea typeface="Be Vietnam Pro" pitchFamily="34" charset="-122"/>
                <a:cs typeface="Be Vietnam Pro" pitchFamily="34" charset="-120"/>
              </a:rPr>
              <a:t>Khách xem, tìm, lọc, so sánh sản phẩm Apple; đặt hàng, thanh toán, theo dõi đơn.</a:t>
            </a:r>
            <a:endParaRPr lang="en-US" sz="1400" dirty="0"/>
          </a:p>
        </p:txBody>
      </p:sp>
      <p:sp>
        <p:nvSpPr>
          <p:cNvPr id="8" name="Shape 5"/>
          <p:cNvSpPr/>
          <p:nvPr/>
        </p:nvSpPr>
        <p:spPr>
          <a:xfrm>
            <a:off x="4405809" y="1989336"/>
            <a:ext cx="3380284" cy="2120702"/>
          </a:xfrm>
          <a:prstGeom prst="roundRect">
            <a:avLst>
              <a:gd name="adj" fmla="val 5839"/>
            </a:avLst>
          </a:prstGeom>
          <a:solidFill>
            <a:srgbClr val="FFFFFF"/>
          </a:solidFill>
          <a:ln w="6350">
            <a:solidFill>
              <a:srgbClr val="DDD9CF"/>
            </a:solidFill>
            <a:prstDash val="solid"/>
          </a:ln>
        </p:spPr>
      </p:sp>
      <p:pic>
        <p:nvPicPr>
          <p:cNvPr id="9" name="Image 1" descr="Settings">    </p:cNvPr>
          <p:cNvPicPr>
            <a:picLocks noChangeAspect="1"/>
          </p:cNvPicPr>
          <p:nvPr/>
        </p:nvPicPr>
        <p:blipFill>
          <a:blip r:embed="rId2"/>
          <a:srcRect l="0" r="0" t="0" b="0"/>
          <a:stretch/>
        </p:blipFill>
        <p:spPr>
          <a:xfrm>
            <a:off x="4662984" y="2246511"/>
            <a:ext cx="355600" cy="355600"/>
          </a:xfrm>
          <a:prstGeom prst="rect">
            <a:avLst/>
          </a:prstGeom>
        </p:spPr>
      </p:pic>
      <p:sp>
        <p:nvSpPr>
          <p:cNvPr id="10" name="Text 6"/>
          <p:cNvSpPr/>
          <p:nvPr/>
        </p:nvSpPr>
        <p:spPr>
          <a:xfrm>
            <a:off x="4662984" y="2703711"/>
            <a:ext cx="295191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61C"/>
                </a:solidFill>
                <a:latin typeface="Be Vietnam Pro" pitchFamily="34" charset="0"/>
                <a:ea typeface="Be Vietnam Pro" pitchFamily="34" charset="-122"/>
                <a:cs typeface="Be Vietnam Pro" pitchFamily="34" charset="-120"/>
              </a:rPr>
              <a:t>Trang quản trị</a:t>
            </a:r>
            <a:endParaRPr lang="en-US" sz="1800" dirty="0"/>
          </a:p>
        </p:txBody>
      </p:sp>
      <p:sp>
        <p:nvSpPr>
          <p:cNvPr id="11" name="Text 7"/>
          <p:cNvSpPr/>
          <p:nvPr/>
        </p:nvSpPr>
        <p:spPr>
          <a:xfrm>
            <a:off x="4662984" y="3079552"/>
            <a:ext cx="295191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060"/>
                </a:solidFill>
                <a:latin typeface="Be Vietnam Pro" pitchFamily="34" charset="0"/>
                <a:ea typeface="Be Vietnam Pro" pitchFamily="34" charset="-122"/>
                <a:cs typeface="Be Vietnam Pro" pitchFamily="34" charset="-120"/>
              </a:rPr>
              <a:t>Admin và nhân viên quản lý đơn hàng, sản phẩm, giá, voucher, khuyến mãi, đánh giá, báo cáo.</a:t>
            </a:r>
            <a:endParaRPr lang="en-US" sz="1400" dirty="0"/>
          </a:p>
        </p:txBody>
      </p:sp>
      <p:sp>
        <p:nvSpPr>
          <p:cNvPr id="12" name="Shape 8"/>
          <p:cNvSpPr/>
          <p:nvPr/>
        </p:nvSpPr>
        <p:spPr>
          <a:xfrm>
            <a:off x="7995642" y="1989336"/>
            <a:ext cx="3380284" cy="2120702"/>
          </a:xfrm>
          <a:prstGeom prst="roundRect">
            <a:avLst>
              <a:gd name="adj" fmla="val 5839"/>
            </a:avLst>
          </a:prstGeom>
          <a:solidFill>
            <a:srgbClr val="FFFFFF"/>
          </a:solidFill>
          <a:ln w="6350">
            <a:solidFill>
              <a:srgbClr val="DDD9CF"/>
            </a:solidFill>
            <a:prstDash val="solid"/>
          </a:ln>
        </p:spPr>
      </p:sp>
      <p:pic>
        <p:nvPicPr>
          <p:cNvPr id="13" name="Image 2" descr="GraduationCap">    </p:cNvPr>
          <p:cNvPicPr>
            <a:picLocks noChangeAspect="1"/>
          </p:cNvPicPr>
          <p:nvPr/>
        </p:nvPicPr>
        <p:blipFill>
          <a:blip r:embed="rId3"/>
          <a:srcRect l="0" r="0" t="0" b="0"/>
          <a:stretch/>
        </p:blipFill>
        <p:spPr>
          <a:xfrm>
            <a:off x="8252817" y="2246511"/>
            <a:ext cx="355600" cy="355600"/>
          </a:xfrm>
          <a:prstGeom prst="rect">
            <a:avLst/>
          </a:prstGeom>
        </p:spPr>
      </p:pic>
      <p:sp>
        <p:nvSpPr>
          <p:cNvPr id="14" name="Text 9"/>
          <p:cNvSpPr/>
          <p:nvPr/>
        </p:nvSpPr>
        <p:spPr>
          <a:xfrm>
            <a:off x="8252817" y="2703711"/>
            <a:ext cx="311993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61C"/>
                </a:solidFill>
                <a:latin typeface="Be Vietnam Pro" pitchFamily="34" charset="0"/>
                <a:ea typeface="Be Vietnam Pro" pitchFamily="34" charset="-122"/>
                <a:cs typeface="Be Vietnam Pro" pitchFamily="34" charset="-120"/>
              </a:rPr>
              <a:t>Vận dụng ASP.NET Core</a:t>
            </a:r>
            <a:endParaRPr lang="en-US" sz="1800" dirty="0"/>
          </a:p>
        </p:txBody>
      </p:sp>
      <p:sp>
        <p:nvSpPr>
          <p:cNvPr id="15" name="Text 10"/>
          <p:cNvSpPr/>
          <p:nvPr/>
        </p:nvSpPr>
        <p:spPr>
          <a:xfrm>
            <a:off x="8252817" y="3079552"/>
            <a:ext cx="295191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060"/>
                </a:solidFill>
                <a:latin typeface="Be Vietnam Pro" pitchFamily="34" charset="0"/>
                <a:ea typeface="Be Vietnam Pro" pitchFamily="34" charset="-122"/>
                <a:cs typeface="Be Vietnam Pro" pitchFamily="34" charset="-120"/>
              </a:rPr>
              <a:t>Dùng đúng cơ chế có sẵn: MVC, EF Core, Identity, Areas, kiểm tra dữ liệu, chống giả mạo form.</a:t>
            </a:r>
            <a:endParaRPr lang="en-US" sz="1400" dirty="0"/>
          </a:p>
        </p:txBody>
      </p:sp>
      <p:sp>
        <p:nvSpPr>
          <p:cNvPr id="16" name="Text 11"/>
          <p:cNvSpPr/>
          <p:nvPr/>
        </p:nvSpPr>
        <p:spPr>
          <a:xfrm>
            <a:off x="812800" y="6238280"/>
            <a:ext cx="7904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F7C"/>
                </a:solidFill>
                <a:latin typeface="Be Vietnam Pro" pitchFamily="34" charset="0"/>
                <a:ea typeface="Be Vietnam Pro" pitchFamily="34" charset="-122"/>
                <a:cs typeface="Be Vietnam Pro" pitchFamily="34" charset="-120"/>
              </a:rPr>
              <a:t>Phạm vi: 37 use case theo đặc tả, 4 tác nhân: khách, khách hàng, nhân viên, quản trị viên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BE0"/>
                </a:solidFill>
                <a:latin typeface="Be Vietnam Pro" pitchFamily="34" charset="0"/>
                <a:ea typeface="Be Vietnam Pro" pitchFamily="34" charset="-122"/>
                <a:cs typeface="Be Vietnam Pro" pitchFamily="34" charset="-120"/>
              </a:rPr>
              <a:t>CÔNG NGHỆ</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61C"/>
                </a:solidFill>
                <a:latin typeface="Be Vietnam Pro" pitchFamily="34" charset="0"/>
                <a:ea typeface="Be Vietnam Pro" pitchFamily="34" charset="-122"/>
                <a:cs typeface="Be Vietnam Pro" pitchFamily="34" charset="-120"/>
              </a:rPr>
              <a:t>Công nghệ sử dụng</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061"/>
          <a:ext cx="10553700" cy="3422650"/>
        </p:xfrm>
        <a:graphic>
          <a:graphicData uri="http://schemas.openxmlformats.org/drawingml/2006/table">
            <a:tbl>
              <a:tblPr/>
              <a:tblGrid>
                <a:gridCol w="3166110"/>
                <a:gridCol w="7387590"/>
              </a:tblGrid>
              <a:tr h="412750">
                <a:tc>
                  <a:txBody>
                    <a:bodyPr/>
                    <a:lstStyle/>
                    <a:p>
                      <a:pPr indent="0" marL="0">
                        <a:lnSpc>
                          <a:spcPts val="2100"/>
                        </a:lnSpc>
                        <a:buNone/>
                      </a:pPr>
                      <a:r>
                        <a:rPr lang="en-US" sz="1500" b="1" dirty="0">
                          <a:solidFill>
                            <a:srgbClr val="14161C"/>
                          </a:solidFill>
                          <a:latin typeface="Be Vietnam Pro" pitchFamily="34" charset="0"/>
                          <a:ea typeface="Be Vietnam Pro" pitchFamily="34" charset="-122"/>
                          <a:cs typeface="Be Vietnam Pro" pitchFamily="34" charset="-120"/>
                        </a:rPr>
                        <a:t>Thành phần</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2100"/>
                        </a:lnSpc>
                        <a:buNone/>
                      </a:pPr>
                      <a:r>
                        <a:rPr lang="en-US" sz="1500" b="1" dirty="0">
                          <a:solidFill>
                            <a:srgbClr val="14161C"/>
                          </a:solidFill>
                          <a:latin typeface="Be Vietnam Pro" pitchFamily="34" charset="0"/>
                          <a:ea typeface="Be Vietnam Pro" pitchFamily="34" charset="-122"/>
                          <a:cs typeface="Be Vietnam Pro" pitchFamily="34" charset="-120"/>
                        </a:rPr>
                        <a:t>Lựa chọn</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412750">
                <a:tc>
                  <a:txBody>
                    <a:bodyPr/>
                    <a:lstStyle/>
                    <a:p>
                      <a:pPr indent="0" marL="0">
                        <a:lnSpc>
                          <a:spcPts val="2100"/>
                        </a:lnSpc>
                        <a:buNone/>
                      </a:pPr>
                      <a:r>
                        <a:rPr lang="en-US" sz="1500" dirty="0">
                          <a:solidFill>
                            <a:srgbClr val="14161C"/>
                          </a:solidFill>
                          <a:latin typeface="Be Vietnam Pro" pitchFamily="34" charset="0"/>
                          <a:ea typeface="Be Vietnam Pro" pitchFamily="34" charset="-122"/>
                          <a:cs typeface="Be Vietnam Pro" pitchFamily="34" charset="-120"/>
                        </a:rPr>
                        <a:t>Nền tảng web</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2100"/>
                        </a:lnSpc>
                        <a:buNone/>
                      </a:pPr>
                      <a:r>
                        <a:rPr lang="en-US" sz="1500" dirty="0">
                          <a:solidFill>
                            <a:srgbClr val="14161C"/>
                          </a:solidFill>
                          <a:latin typeface="Be Vietnam Pro" pitchFamily="34" charset="0"/>
                          <a:ea typeface="Be Vietnam Pro" pitchFamily="34" charset="-122"/>
                          <a:cs typeface="Be Vietnam Pro" pitchFamily="34" charset="-120"/>
                        </a:rPr>
                        <a:t>.NET 10, ASP.NET Core MVC, Razor views</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679450">
                <a:tc>
                  <a:txBody>
                    <a:bodyPr/>
                    <a:lstStyle/>
                    <a:p>
                      <a:pPr indent="0" marL="0">
                        <a:lnSpc>
                          <a:spcPts val="2100"/>
                        </a:lnSpc>
                        <a:buNone/>
                      </a:pPr>
                      <a:r>
                        <a:rPr lang="en-US" sz="1500" dirty="0">
                          <a:solidFill>
                            <a:srgbClr val="14161C"/>
                          </a:solidFill>
                          <a:latin typeface="Be Vietnam Pro" pitchFamily="34" charset="0"/>
                          <a:ea typeface="Be Vietnam Pro" pitchFamily="34" charset="-122"/>
                          <a:cs typeface="Be Vietnam Pro" pitchFamily="34" charset="-120"/>
                        </a:rPr>
                        <a:t>Dữ liệu</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2100"/>
                        </a:lnSpc>
                        <a:buNone/>
                      </a:pPr>
                      <a:r>
                        <a:rPr lang="en-US" sz="1500" dirty="0">
                          <a:solidFill>
                            <a:srgbClr val="14161C"/>
                          </a:solidFill>
                          <a:latin typeface="Be Vietnam Pro" pitchFamily="34" charset="0"/>
                          <a:ea typeface="Be Vietnam Pro" pitchFamily="34" charset="-122"/>
                          <a:cs typeface="Be Vietnam Pro" pitchFamily="34" charset="-120"/>
                        </a:rPr>
                        <a:t>Entity Framework Core (Code-First, migrations), SQLite khi phát triển, schema theo kiểu SQL Server</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679450">
                <a:tc>
                  <a:txBody>
                    <a:bodyPr/>
                    <a:lstStyle/>
                    <a:p>
                      <a:pPr indent="0" marL="0">
                        <a:lnSpc>
                          <a:spcPts val="2100"/>
                        </a:lnSpc>
                        <a:buNone/>
                      </a:pPr>
                      <a:r>
                        <a:rPr lang="en-US" sz="1500" dirty="0">
                          <a:solidFill>
                            <a:srgbClr val="14161C"/>
                          </a:solidFill>
                          <a:latin typeface="Be Vietnam Pro" pitchFamily="34" charset="0"/>
                          <a:ea typeface="Be Vietnam Pro" pitchFamily="34" charset="-122"/>
                          <a:cs typeface="Be Vietnam Pro" pitchFamily="34" charset="-120"/>
                        </a:rPr>
                        <a:t>Tài khoản</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2100"/>
                        </a:lnSpc>
                        <a:buNone/>
                      </a:pPr>
                      <a:r>
                        <a:rPr lang="en-US" sz="1500" dirty="0">
                          <a:solidFill>
                            <a:srgbClr val="14161C"/>
                          </a:solidFill>
                          <a:latin typeface="Be Vietnam Pro" pitchFamily="34" charset="0"/>
                          <a:ea typeface="Be Vietnam Pro" pitchFamily="34" charset="-122"/>
                          <a:cs typeface="Be Vietnam Pro" pitchFamily="34" charset="-120"/>
                        </a:rPr>
                        <a:t>ASP.NET Core Identity trên bảng Users của đặc tả, OTP qua email (MailKit, Gmail SMTP)</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161C"/>
                          </a:solidFill>
                          <a:latin typeface="Be Vietnam Pro" pitchFamily="34" charset="0"/>
                          <a:ea typeface="Be Vietnam Pro" pitchFamily="34" charset="-122"/>
                          <a:cs typeface="Be Vietnam Pro" pitchFamily="34" charset="-120"/>
                        </a:rPr>
                        <a:t>Báo cáo</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2100"/>
                        </a:lnSpc>
                        <a:buNone/>
                      </a:pPr>
                      <a:r>
                        <a:rPr lang="en-US" sz="1500" dirty="0">
                          <a:solidFill>
                            <a:srgbClr val="14161C"/>
                          </a:solidFill>
                          <a:latin typeface="Be Vietnam Pro" pitchFamily="34" charset="0"/>
                          <a:ea typeface="Be Vietnam Pro" pitchFamily="34" charset="-122"/>
                          <a:cs typeface="Be Vietnam Pro" pitchFamily="34" charset="-120"/>
                        </a:rPr>
                        <a:t>ClosedXML (xuất Excel), trang in của trình duyệt (PDF)</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161C"/>
                          </a:solidFill>
                          <a:latin typeface="Be Vietnam Pro" pitchFamily="34" charset="0"/>
                          <a:ea typeface="Be Vietnam Pro" pitchFamily="34" charset="-122"/>
                          <a:cs typeface="Be Vietnam Pro" pitchFamily="34" charset="-120"/>
                        </a:rPr>
                        <a:t>Kiểm thử</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2100"/>
                        </a:lnSpc>
                        <a:buNone/>
                      </a:pPr>
                      <a:r>
                        <a:rPr lang="en-US" sz="1500" dirty="0">
                          <a:solidFill>
                            <a:srgbClr val="14161C"/>
                          </a:solidFill>
                          <a:latin typeface="Be Vietnam Pro" pitchFamily="34" charset="0"/>
                          <a:ea typeface="Be Vietnam Pro" pitchFamily="34" charset="-122"/>
                          <a:cs typeface="Be Vietnam Pro" pitchFamily="34" charset="-120"/>
                        </a:rPr>
                        <a:t>xUnit, WebApplicationFactory, Playwright (trình duyệt thật)</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161C"/>
                          </a:solidFill>
                          <a:latin typeface="Be Vietnam Pro" pitchFamily="34" charset="0"/>
                          <a:ea typeface="Be Vietnam Pro" pitchFamily="34" charset="-122"/>
                          <a:cs typeface="Be Vietnam Pro" pitchFamily="34" charset="-120"/>
                        </a:rPr>
                        <a:t>Quản lý mã nguồn</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2100"/>
                        </a:lnSpc>
                        <a:buNone/>
                      </a:pPr>
                      <a:r>
                        <a:rPr lang="en-US" sz="1500" dirty="0">
                          <a:solidFill>
                            <a:srgbClr val="14161C"/>
                          </a:solidFill>
                          <a:latin typeface="Be Vietnam Pro" pitchFamily="34" charset="0"/>
                          <a:ea typeface="Be Vietnam Pro" pitchFamily="34" charset="-122"/>
                          <a:cs typeface="Be Vietnam Pro" pitchFamily="34" charset="-120"/>
                        </a:rPr>
                        <a:t>Git, GitHub, mỗi chức năng một nhánh và một pull request</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BE0"/>
                </a:solidFill>
                <a:latin typeface="Be Vietnam Pro" pitchFamily="34" charset="0"/>
                <a:ea typeface="Be Vietnam Pro" pitchFamily="34" charset="-122"/>
                <a:cs typeface="Be Vietnam Pro" pitchFamily="34" charset="-120"/>
              </a:rPr>
              <a:t>KIẾN TRÚC</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61C"/>
                </a:solidFill>
                <a:latin typeface="Be Vietnam Pro" pitchFamily="34" charset="0"/>
                <a:ea typeface="Be Vietnam Pro" pitchFamily="34" charset="-122"/>
                <a:cs typeface="Be Vietnam Pro" pitchFamily="34" charset="-120"/>
              </a:rPr>
              <a:t>Ba tầng, phụ thuộc một chiều</a:t>
            </a:r>
            <a:endParaRPr lang="en-US" sz="3600" dirty="0"/>
          </a:p>
        </p:txBody>
      </p:sp>
      <p:sp>
        <p:nvSpPr>
          <p:cNvPr id="4" name="Shape 2"/>
          <p:cNvSpPr/>
          <p:nvPr/>
        </p:nvSpPr>
        <p:spPr>
          <a:xfrm>
            <a:off x="812800" y="2129631"/>
            <a:ext cx="2971800" cy="1576388"/>
          </a:xfrm>
          <a:prstGeom prst="roundRect">
            <a:avLst>
              <a:gd name="adj" fmla="val 8056"/>
            </a:avLst>
          </a:prstGeom>
          <a:solidFill>
            <a:srgbClr val="14161C"/>
          </a:solidFill>
          <a:ln/>
        </p:spPr>
      </p:sp>
      <p:sp>
        <p:nvSpPr>
          <p:cNvPr id="5" name="Text 3"/>
          <p:cNvSpPr/>
          <p:nvPr/>
        </p:nvSpPr>
        <p:spPr>
          <a:xfrm>
            <a:off x="1066800" y="2383631"/>
            <a:ext cx="253771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2EC"/>
                </a:solidFill>
                <a:latin typeface="Be Vietnam Pro" pitchFamily="34" charset="0"/>
                <a:ea typeface="Be Vietnam Pro" pitchFamily="34" charset="-122"/>
                <a:cs typeface="Be Vietnam Pro" pitchFamily="34" charset="-120"/>
              </a:rPr>
              <a:t>AppleStore.Web</a:t>
            </a:r>
            <a:endParaRPr lang="en-US" sz="1800" dirty="0"/>
          </a:p>
        </p:txBody>
      </p:sp>
      <p:sp>
        <p:nvSpPr>
          <p:cNvPr id="6" name="Text 4"/>
          <p:cNvSpPr/>
          <p:nvPr/>
        </p:nvSpPr>
        <p:spPr>
          <a:xfrm>
            <a:off x="1066800" y="2734072"/>
            <a:ext cx="2537714"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CCD6"/>
                </a:solidFill>
                <a:latin typeface="Be Vietnam Pro" pitchFamily="34" charset="0"/>
                <a:ea typeface="Be Vietnam Pro" pitchFamily="34" charset="-122"/>
                <a:cs typeface="Be Vietnam Pro" pitchFamily="34" charset="-120"/>
              </a:rPr>
              <a:t>Controllers, Razor views, Area Admin, view components, Program.cs</a:t>
            </a:r>
            <a:endParaRPr lang="en-US" sz="1300" dirty="0"/>
          </a:p>
        </p:txBody>
      </p:sp>
      <p:pic>
        <p:nvPicPr>
          <p:cNvPr id="7" name="Image 0" descr="arrow-right">    </p:cNvPr>
          <p:cNvPicPr>
            <a:picLocks noChangeAspect="1"/>
          </p:cNvPicPr>
          <p:nvPr/>
        </p:nvPicPr>
        <p:blipFill>
          <a:blip r:embed="rId1"/>
          <a:srcRect l="0" r="0" t="0" b="0"/>
          <a:stretch/>
        </p:blipFill>
        <p:spPr>
          <a:xfrm>
            <a:off x="3937000" y="2790825"/>
            <a:ext cx="508000" cy="254000"/>
          </a:xfrm>
          <a:prstGeom prst="rect">
            <a:avLst/>
          </a:prstGeom>
        </p:spPr>
      </p:pic>
      <p:sp>
        <p:nvSpPr>
          <p:cNvPr id="8" name="Shape 5"/>
          <p:cNvSpPr/>
          <p:nvPr/>
        </p:nvSpPr>
        <p:spPr>
          <a:xfrm>
            <a:off x="4600575" y="1989336"/>
            <a:ext cx="2978150" cy="1856978"/>
          </a:xfrm>
          <a:prstGeom prst="roundRect">
            <a:avLst>
              <a:gd name="adj" fmla="val 6668"/>
            </a:avLst>
          </a:prstGeom>
          <a:solidFill>
            <a:srgbClr val="FFFFFF"/>
          </a:solidFill>
          <a:ln w="6350">
            <a:solidFill>
              <a:srgbClr val="DDD9CF"/>
            </a:solidFill>
            <a:prstDash val="solid"/>
          </a:ln>
        </p:spPr>
      </p:sp>
      <p:sp>
        <p:nvSpPr>
          <p:cNvPr id="9" name="Text 6"/>
          <p:cNvSpPr/>
          <p:nvPr/>
        </p:nvSpPr>
        <p:spPr>
          <a:xfrm>
            <a:off x="4857750" y="2246511"/>
            <a:ext cx="2537714"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61C"/>
                </a:solidFill>
                <a:latin typeface="Be Vietnam Pro" pitchFamily="34" charset="0"/>
                <a:ea typeface="Be Vietnam Pro" pitchFamily="34" charset="-122"/>
                <a:cs typeface="Be Vietnam Pro" pitchFamily="34" charset="-120"/>
              </a:rPr>
              <a:t>AppleStore.</a:t>
            </a:r>
            <a:br>
              <a:rPr lang="en-US" sz="1800" b="1" dirty="0"/>
            </a:br>
            <a:r>
              <a:rPr lang="en-US" sz="1800" b="1" dirty="0">
                <a:solidFill>
                  <a:srgbClr val="14161C"/>
                </a:solidFill>
                <a:latin typeface="Be Vietnam Pro" pitchFamily="34" charset="0"/>
                <a:ea typeface="Be Vietnam Pro" pitchFamily="34" charset="-122"/>
                <a:cs typeface="Be Vietnam Pro" pitchFamily="34" charset="-120"/>
              </a:rPr>
              <a:t>Infrastructure</a:t>
            </a:r>
            <a:endParaRPr lang="en-US" sz="1800" dirty="0"/>
          </a:p>
        </p:txBody>
      </p:sp>
      <p:sp>
        <p:nvSpPr>
          <p:cNvPr id="10" name="Text 7"/>
          <p:cNvSpPr/>
          <p:nvPr/>
        </p:nvSpPr>
        <p:spPr>
          <a:xfrm>
            <a:off x="4857750" y="2871192"/>
            <a:ext cx="2537714"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060"/>
                </a:solidFill>
                <a:latin typeface="Be Vietnam Pro" pitchFamily="34" charset="0"/>
                <a:ea typeface="Be Vietnam Pro" pitchFamily="34" charset="-122"/>
                <a:cs typeface="Be Vietnam Pro" pitchFamily="34" charset="-120"/>
              </a:rPr>
              <a:t>AppDbContext, cấu hình EF, migrations, các service nghiệp vụ</a:t>
            </a:r>
            <a:endParaRPr lang="en-US" sz="1300" dirty="0"/>
          </a:p>
        </p:txBody>
      </p:sp>
      <p:pic>
        <p:nvPicPr>
          <p:cNvPr id="11" name="Image 1" descr="arrow-right">    </p:cNvPr>
          <p:cNvPicPr>
            <a:picLocks noChangeAspect="1"/>
          </p:cNvPicPr>
          <p:nvPr/>
        </p:nvPicPr>
        <p:blipFill>
          <a:blip r:embed="rId2"/>
          <a:srcRect l="0" r="0" t="0" b="0"/>
          <a:stretch/>
        </p:blipFill>
        <p:spPr>
          <a:xfrm>
            <a:off x="7734300" y="2790825"/>
            <a:ext cx="508000" cy="254000"/>
          </a:xfrm>
          <a:prstGeom prst="rect">
            <a:avLst/>
          </a:prstGeom>
        </p:spPr>
      </p:pic>
      <p:sp>
        <p:nvSpPr>
          <p:cNvPr id="12" name="Shape 8"/>
          <p:cNvSpPr/>
          <p:nvPr/>
        </p:nvSpPr>
        <p:spPr>
          <a:xfrm>
            <a:off x="8397875" y="2246114"/>
            <a:ext cx="2978150" cy="1343422"/>
          </a:xfrm>
          <a:prstGeom prst="roundRect">
            <a:avLst>
              <a:gd name="adj" fmla="val 9217"/>
            </a:avLst>
          </a:prstGeom>
          <a:solidFill>
            <a:srgbClr val="FFFFFF"/>
          </a:solidFill>
          <a:ln w="6350">
            <a:solidFill>
              <a:srgbClr val="DDD9CF"/>
            </a:solidFill>
            <a:prstDash val="solid"/>
          </a:ln>
        </p:spPr>
      </p:sp>
      <p:sp>
        <p:nvSpPr>
          <p:cNvPr id="13" name="Text 9"/>
          <p:cNvSpPr/>
          <p:nvPr/>
        </p:nvSpPr>
        <p:spPr>
          <a:xfrm>
            <a:off x="8655050" y="2503289"/>
            <a:ext cx="253771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61C"/>
                </a:solidFill>
                <a:latin typeface="Be Vietnam Pro" pitchFamily="34" charset="0"/>
                <a:ea typeface="Be Vietnam Pro" pitchFamily="34" charset="-122"/>
                <a:cs typeface="Be Vietnam Pro" pitchFamily="34" charset="-120"/>
              </a:rPr>
              <a:t>AppleStore.Domain</a:t>
            </a:r>
            <a:endParaRPr lang="en-US" sz="1800" dirty="0"/>
          </a:p>
        </p:txBody>
      </p:sp>
      <p:sp>
        <p:nvSpPr>
          <p:cNvPr id="14" name="Text 10"/>
          <p:cNvSpPr/>
          <p:nvPr/>
        </p:nvSpPr>
        <p:spPr>
          <a:xfrm>
            <a:off x="8655050" y="2853730"/>
            <a:ext cx="2537714"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060"/>
                </a:solidFill>
                <a:latin typeface="Be Vietnam Pro" pitchFamily="34" charset="0"/>
                <a:ea typeface="Be Vietnam Pro" pitchFamily="34" charset="-122"/>
                <a:cs typeface="Be Vietnam Pro" pitchFamily="34" charset="-120"/>
              </a:rPr>
              <a:t>Entity và enum, không phụ thuộc thư viện nào</a:t>
            </a:r>
            <a:endParaRPr lang="en-US" sz="1300" dirty="0"/>
          </a:p>
        </p:txBody>
      </p:sp>
      <p:sp>
        <p:nvSpPr>
          <p:cNvPr id="15" name="Text 11"/>
          <p:cNvSpPr/>
          <p:nvPr/>
        </p:nvSpPr>
        <p:spPr>
          <a:xfrm>
            <a:off x="812800" y="4205089"/>
            <a:ext cx="10883392"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060"/>
                </a:solidFill>
                <a:latin typeface="Be Vietnam Pro" pitchFamily="34" charset="0"/>
                <a:ea typeface="Be Vietnam Pro" pitchFamily="34" charset="-122"/>
                <a:cs typeface="Be Vietnam Pro" pitchFamily="34" charset="-120"/>
              </a:rPr>
              <a:t>Thêm dự án </a:t>
            </a:r>
            <a:r>
              <a:rPr lang="en-US" sz="1500" b="1" dirty="0">
                <a:solidFill>
                  <a:srgbClr val="4A5060"/>
                </a:solidFill>
                <a:latin typeface="Be Vietnam Pro" pitchFamily="34" charset="0"/>
                <a:ea typeface="Be Vietnam Pro" pitchFamily="34" charset="-122"/>
                <a:cs typeface="Be Vietnam Pro" pitchFamily="34" charset="-120"/>
              </a:rPr>
              <a:t>AppleStore.Tests</a:t>
            </a:r>
            <a:r>
              <a:rPr lang="en-US" sz="1500" dirty="0">
                <a:solidFill>
                  <a:srgbClr val="4A5060"/>
                </a:solidFill>
                <a:latin typeface="Be Vietnam Pro" pitchFamily="34" charset="0"/>
                <a:ea typeface="Be Vietnam Pro" pitchFamily="34" charset="-122"/>
                <a:cs typeface="Be Vietnam Pro" pitchFamily="34" charset="-120"/>
              </a:rPr>
              <a:t> (xUnit) và 16 script kiểm tra trên trình duyệt trong thư mục </a:t>
            </a:r>
            <a:r>
              <a:rPr lang="en-US" sz="1500" b="1" dirty="0">
                <a:solidFill>
                  <a:srgbClr val="4A5060"/>
                </a:solidFill>
                <a:latin typeface="Be Vietnam Pro" pitchFamily="34" charset="0"/>
                <a:ea typeface="Be Vietnam Pro" pitchFamily="34" charset="-122"/>
                <a:cs typeface="Be Vietnam Pro" pitchFamily="34" charset="-120"/>
              </a:rPr>
              <a:t>setup/</a:t>
            </a:r>
            <a:r>
              <a:rPr lang="en-US" sz="1500" dirty="0">
                <a:solidFill>
                  <a:srgbClr val="4A5060"/>
                </a:solidFill>
                <a:latin typeface="Be Vietnam Pro" pitchFamily="34" charset="0"/>
                <a:ea typeface="Be Vietnam Pro" pitchFamily="34" charset="-122"/>
                <a:cs typeface="Be Vietnam Pro" pitchFamily="34" charset="-120"/>
              </a:rPr>
              <a:t>. Mỗi quy tắc nghiệp vụ nằm ở một service duy nhất, ví dụ </a:t>
            </a:r>
            <a:r>
              <a:rPr lang="en-US" sz="1500" b="1" dirty="0">
                <a:solidFill>
                  <a:srgbClr val="4A5060"/>
                </a:solidFill>
                <a:latin typeface="Be Vietnam Pro" pitchFamily="34" charset="0"/>
                <a:ea typeface="Be Vietnam Pro" pitchFamily="34" charset="-122"/>
                <a:cs typeface="Be Vietnam Pro" pitchFamily="34" charset="-120"/>
              </a:rPr>
              <a:t>SalePrices</a:t>
            </a:r>
            <a:r>
              <a:rPr lang="en-US" sz="1500" dirty="0">
                <a:solidFill>
                  <a:srgbClr val="4A5060"/>
                </a:solidFill>
                <a:latin typeface="Be Vietnam Pro" pitchFamily="34" charset="0"/>
                <a:ea typeface="Be Vietnam Pro" pitchFamily="34" charset="-122"/>
                <a:cs typeface="Be Vietnam Pro" pitchFamily="34" charset="-120"/>
              </a:rPr>
              <a:t> là nơi duy nhất tính giá đang bán.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F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A2FF"/>
                </a:solidFill>
                <a:latin typeface="Be Vietnam Pro" pitchFamily="34" charset="0"/>
                <a:ea typeface="Be Vietnam Pro" pitchFamily="34" charset="-122"/>
                <a:cs typeface="Be Vietnam Pro" pitchFamily="34" charset="-120"/>
              </a:rPr>
              <a:t>PHÂN TÍCH</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2EC"/>
                </a:solidFill>
                <a:latin typeface="Be Vietnam Pro" pitchFamily="34" charset="0"/>
                <a:ea typeface="Be Vietnam Pro" pitchFamily="34" charset="-122"/>
                <a:cs typeface="Be Vietnam Pro" pitchFamily="34" charset="-120"/>
              </a:rPr>
              <a:t>Đủ 37 trên 37 use case</a:t>
            </a:r>
            <a:endParaRPr lang="en-US" sz="3600" dirty="0"/>
          </a:p>
        </p:txBody>
      </p:sp>
      <p:sp>
        <p:nvSpPr>
          <p:cNvPr id="4" name="Shape 2"/>
          <p:cNvSpPr/>
          <p:nvPr/>
        </p:nvSpPr>
        <p:spPr>
          <a:xfrm>
            <a:off x="815975" y="1989336"/>
            <a:ext cx="2520950" cy="2352973"/>
          </a:xfrm>
          <a:prstGeom prst="roundRect">
            <a:avLst>
              <a:gd name="adj" fmla="val 5262"/>
            </a:avLst>
          </a:prstGeom>
          <a:solidFill>
            <a:srgbClr val="181A21"/>
          </a:solidFill>
          <a:ln w="6350">
            <a:solidFill>
              <a:srgbClr val="2A2D38"/>
            </a:solidFill>
            <a:prstDash val="solid"/>
          </a:ln>
        </p:spPr>
      </p:sp>
      <p:sp>
        <p:nvSpPr>
          <p:cNvPr id="5" name="Text 3"/>
          <p:cNvSpPr/>
          <p:nvPr/>
        </p:nvSpPr>
        <p:spPr>
          <a:xfrm>
            <a:off x="1047750" y="2221111"/>
            <a:ext cx="2119122"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7FA2FF"/>
                </a:solidFill>
                <a:latin typeface="Be Vietnam Pro" pitchFamily="34" charset="0"/>
                <a:ea typeface="Be Vietnam Pro" pitchFamily="34" charset="-122"/>
                <a:cs typeface="Be Vietnam Pro" pitchFamily="34" charset="-120"/>
              </a:rPr>
              <a:t>10</a:t>
            </a:r>
            <a:endParaRPr lang="en-US" sz="3200" dirty="0"/>
          </a:p>
        </p:txBody>
      </p:sp>
      <p:sp>
        <p:nvSpPr>
          <p:cNvPr id="6" name="Text 4"/>
          <p:cNvSpPr/>
          <p:nvPr/>
        </p:nvSpPr>
        <p:spPr>
          <a:xfrm>
            <a:off x="1047750" y="2866231"/>
            <a:ext cx="211912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Be Vietnam Pro" pitchFamily="34" charset="0"/>
                <a:ea typeface="Be Vietnam Pro" pitchFamily="34" charset="-122"/>
                <a:cs typeface="Be Vietnam Pro" pitchFamily="34" charset="-120"/>
              </a:rPr>
              <a:t>Khách</a:t>
            </a:r>
            <a:endParaRPr lang="en-US" sz="1600" dirty="0"/>
          </a:p>
        </p:txBody>
      </p:sp>
      <p:sp>
        <p:nvSpPr>
          <p:cNvPr id="7" name="Text 5"/>
          <p:cNvSpPr/>
          <p:nvPr/>
        </p:nvSpPr>
        <p:spPr>
          <a:xfrm>
            <a:off x="1047750" y="3186212"/>
            <a:ext cx="211912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8ACB8"/>
                </a:solidFill>
                <a:latin typeface="Be Vietnam Pro" pitchFamily="34" charset="0"/>
                <a:ea typeface="Be Vietnam Pro" pitchFamily="34" charset="-122"/>
                <a:cs typeface="Be Vietnam Pro" pitchFamily="34" charset="-120"/>
              </a:rPr>
              <a:t>Đăng ký OTP, đăng nhập, tìm, lọc, xem, so sánh</a:t>
            </a:r>
            <a:endParaRPr lang="en-US" sz="1300" dirty="0"/>
          </a:p>
        </p:txBody>
      </p:sp>
      <p:sp>
        <p:nvSpPr>
          <p:cNvPr id="8" name="Shape 6"/>
          <p:cNvSpPr/>
          <p:nvPr/>
        </p:nvSpPr>
        <p:spPr>
          <a:xfrm>
            <a:off x="3495675" y="1989336"/>
            <a:ext cx="2520950" cy="2352973"/>
          </a:xfrm>
          <a:prstGeom prst="roundRect">
            <a:avLst>
              <a:gd name="adj" fmla="val 5262"/>
            </a:avLst>
          </a:prstGeom>
          <a:solidFill>
            <a:srgbClr val="181A21"/>
          </a:solidFill>
          <a:ln w="6350">
            <a:solidFill>
              <a:srgbClr val="2A2D38"/>
            </a:solidFill>
            <a:prstDash val="solid"/>
          </a:ln>
        </p:spPr>
      </p:sp>
      <p:sp>
        <p:nvSpPr>
          <p:cNvPr id="9" name="Text 7"/>
          <p:cNvSpPr/>
          <p:nvPr/>
        </p:nvSpPr>
        <p:spPr>
          <a:xfrm>
            <a:off x="3727450" y="2221111"/>
            <a:ext cx="2119122"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7FA2FF"/>
                </a:solidFill>
                <a:latin typeface="Be Vietnam Pro" pitchFamily="34" charset="0"/>
                <a:ea typeface="Be Vietnam Pro" pitchFamily="34" charset="-122"/>
                <a:cs typeface="Be Vietnam Pro" pitchFamily="34" charset="-120"/>
              </a:rPr>
              <a:t>10</a:t>
            </a:r>
            <a:endParaRPr lang="en-US" sz="3200" dirty="0"/>
          </a:p>
        </p:txBody>
      </p:sp>
      <p:sp>
        <p:nvSpPr>
          <p:cNvPr id="10" name="Text 8"/>
          <p:cNvSpPr/>
          <p:nvPr/>
        </p:nvSpPr>
        <p:spPr>
          <a:xfrm>
            <a:off x="3727450" y="2866231"/>
            <a:ext cx="211912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Be Vietnam Pro" pitchFamily="34" charset="0"/>
                <a:ea typeface="Be Vietnam Pro" pitchFamily="34" charset="-122"/>
                <a:cs typeface="Be Vietnam Pro" pitchFamily="34" charset="-120"/>
              </a:rPr>
              <a:t>Khách hàng</a:t>
            </a:r>
            <a:endParaRPr lang="en-US" sz="1600" dirty="0"/>
          </a:p>
        </p:txBody>
      </p:sp>
      <p:sp>
        <p:nvSpPr>
          <p:cNvPr id="11" name="Text 9"/>
          <p:cNvSpPr/>
          <p:nvPr/>
        </p:nvSpPr>
        <p:spPr>
          <a:xfrm>
            <a:off x="3727450" y="3186212"/>
            <a:ext cx="211912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8ACB8"/>
                </a:solidFill>
                <a:latin typeface="Be Vietnam Pro" pitchFamily="34" charset="0"/>
                <a:ea typeface="Be Vietnam Pro" pitchFamily="34" charset="-122"/>
                <a:cs typeface="Be Vietnam Pro" pitchFamily="34" charset="-120"/>
              </a:rPr>
              <a:t>Giỏ hàng, đặt hàng, voucher, thanh toán, tra cứu đơn, đánh giá</a:t>
            </a:r>
            <a:endParaRPr lang="en-US" sz="1300" dirty="0"/>
          </a:p>
        </p:txBody>
      </p:sp>
      <p:sp>
        <p:nvSpPr>
          <p:cNvPr id="12" name="Shape 10"/>
          <p:cNvSpPr/>
          <p:nvPr/>
        </p:nvSpPr>
        <p:spPr>
          <a:xfrm>
            <a:off x="6175375" y="1989336"/>
            <a:ext cx="2520950" cy="2352973"/>
          </a:xfrm>
          <a:prstGeom prst="roundRect">
            <a:avLst>
              <a:gd name="adj" fmla="val 5262"/>
            </a:avLst>
          </a:prstGeom>
          <a:solidFill>
            <a:srgbClr val="181A21"/>
          </a:solidFill>
          <a:ln w="6350">
            <a:solidFill>
              <a:srgbClr val="2A2D38"/>
            </a:solidFill>
            <a:prstDash val="solid"/>
          </a:ln>
        </p:spPr>
      </p:sp>
      <p:sp>
        <p:nvSpPr>
          <p:cNvPr id="13" name="Text 11"/>
          <p:cNvSpPr/>
          <p:nvPr/>
        </p:nvSpPr>
        <p:spPr>
          <a:xfrm>
            <a:off x="6407150" y="2221111"/>
            <a:ext cx="2119122"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7FA2FF"/>
                </a:solidFill>
                <a:latin typeface="Be Vietnam Pro" pitchFamily="34" charset="0"/>
                <a:ea typeface="Be Vietnam Pro" pitchFamily="34" charset="-122"/>
                <a:cs typeface="Be Vietnam Pro" pitchFamily="34" charset="-120"/>
              </a:rPr>
              <a:t>5</a:t>
            </a:r>
            <a:endParaRPr lang="en-US" sz="3200" dirty="0"/>
          </a:p>
        </p:txBody>
      </p:sp>
      <p:sp>
        <p:nvSpPr>
          <p:cNvPr id="14" name="Text 12"/>
          <p:cNvSpPr/>
          <p:nvPr/>
        </p:nvSpPr>
        <p:spPr>
          <a:xfrm>
            <a:off x="6407150" y="2866231"/>
            <a:ext cx="211912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Be Vietnam Pro" pitchFamily="34" charset="0"/>
                <a:ea typeface="Be Vietnam Pro" pitchFamily="34" charset="-122"/>
                <a:cs typeface="Be Vietnam Pro" pitchFamily="34" charset="-120"/>
              </a:rPr>
              <a:t>Nhân viên</a:t>
            </a:r>
            <a:endParaRPr lang="en-US" sz="1600" dirty="0"/>
          </a:p>
        </p:txBody>
      </p:sp>
      <p:sp>
        <p:nvSpPr>
          <p:cNvPr id="15" name="Text 13"/>
          <p:cNvSpPr/>
          <p:nvPr/>
        </p:nvSpPr>
        <p:spPr>
          <a:xfrm>
            <a:off x="6407150" y="3186212"/>
            <a:ext cx="211912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8ACB8"/>
                </a:solidFill>
                <a:latin typeface="Be Vietnam Pro" pitchFamily="34" charset="0"/>
                <a:ea typeface="Be Vietnam Pro" pitchFamily="34" charset="-122"/>
                <a:cs typeface="Be Vietnam Pro" pitchFamily="34" charset="-120"/>
              </a:rPr>
              <a:t>Xác nhận, gán vận đơn, cập nhật trạng thái, nhập kho, bán tại quầy</a:t>
            </a:r>
            <a:endParaRPr lang="en-US" sz="1300" dirty="0"/>
          </a:p>
        </p:txBody>
      </p:sp>
      <p:sp>
        <p:nvSpPr>
          <p:cNvPr id="16" name="Shape 14"/>
          <p:cNvSpPr/>
          <p:nvPr/>
        </p:nvSpPr>
        <p:spPr>
          <a:xfrm>
            <a:off x="8855075" y="1989336"/>
            <a:ext cx="2520950" cy="2352973"/>
          </a:xfrm>
          <a:prstGeom prst="roundRect">
            <a:avLst>
              <a:gd name="adj" fmla="val 5262"/>
            </a:avLst>
          </a:prstGeom>
          <a:solidFill>
            <a:srgbClr val="181A21"/>
          </a:solidFill>
          <a:ln w="6350">
            <a:solidFill>
              <a:srgbClr val="2A2D38"/>
            </a:solidFill>
            <a:prstDash val="solid"/>
          </a:ln>
        </p:spPr>
      </p:sp>
      <p:sp>
        <p:nvSpPr>
          <p:cNvPr id="17" name="Text 15"/>
          <p:cNvSpPr/>
          <p:nvPr/>
        </p:nvSpPr>
        <p:spPr>
          <a:xfrm>
            <a:off x="9086850" y="2221111"/>
            <a:ext cx="2119122"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7FA2FF"/>
                </a:solidFill>
                <a:latin typeface="Be Vietnam Pro" pitchFamily="34" charset="0"/>
                <a:ea typeface="Be Vietnam Pro" pitchFamily="34" charset="-122"/>
                <a:cs typeface="Be Vietnam Pro" pitchFamily="34" charset="-120"/>
              </a:rPr>
              <a:t>12</a:t>
            </a:r>
            <a:endParaRPr lang="en-US" sz="3200" dirty="0"/>
          </a:p>
        </p:txBody>
      </p:sp>
      <p:sp>
        <p:nvSpPr>
          <p:cNvPr id="18" name="Text 16"/>
          <p:cNvSpPr/>
          <p:nvPr/>
        </p:nvSpPr>
        <p:spPr>
          <a:xfrm>
            <a:off x="9086850" y="2866231"/>
            <a:ext cx="211912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Be Vietnam Pro" pitchFamily="34" charset="0"/>
                <a:ea typeface="Be Vietnam Pro" pitchFamily="34" charset="-122"/>
                <a:cs typeface="Be Vietnam Pro" pitchFamily="34" charset="-120"/>
              </a:rPr>
              <a:t>Quản trị viên</a:t>
            </a:r>
            <a:endParaRPr lang="en-US" sz="1600" dirty="0"/>
          </a:p>
        </p:txBody>
      </p:sp>
      <p:sp>
        <p:nvSpPr>
          <p:cNvPr id="19" name="Text 17"/>
          <p:cNvSpPr/>
          <p:nvPr/>
        </p:nvSpPr>
        <p:spPr>
          <a:xfrm>
            <a:off x="9086850" y="3186212"/>
            <a:ext cx="2119122"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8ACB8"/>
                </a:solidFill>
                <a:latin typeface="Be Vietnam Pro" pitchFamily="34" charset="0"/>
                <a:ea typeface="Be Vietnam Pro" pitchFamily="34" charset="-122"/>
                <a:cs typeface="Be Vietnam Pro" pitchFamily="34" charset="-120"/>
              </a:rPr>
              <a:t>Sản phẩm, khuyến mãi, voucher, báo cáo, xuất file, hóa đơn, email xác nhận</a:t>
            </a:r>
            <a:endParaRPr lang="en-US" sz="1300" dirty="0"/>
          </a:p>
        </p:txBody>
      </p:sp>
      <p:sp>
        <p:nvSpPr>
          <p:cNvPr id="20" name="Text 18"/>
          <p:cNvSpPr/>
          <p:nvPr/>
        </p:nvSpPr>
        <p:spPr>
          <a:xfrm>
            <a:off x="812800" y="4701084"/>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ACB8"/>
                </a:solidFill>
                <a:latin typeface="Be Vietnam Pro" pitchFamily="34" charset="0"/>
                <a:ea typeface="Be Vietnam Pro" pitchFamily="34" charset="-122"/>
                <a:cs typeface="Be Vietnam Pro" pitchFamily="34" charset="-120"/>
              </a:rPr>
              <a:t>Mỗi use case có test tự động và kịch bản kiểm tra trên trình duyệt.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BE0"/>
                </a:solidFill>
                <a:latin typeface="Be Vietnam Pro" pitchFamily="34" charset="0"/>
                <a:ea typeface="Be Vietnam Pro" pitchFamily="34" charset="-122"/>
                <a:cs typeface="Be Vietnam Pro" pitchFamily="34" charset="-120"/>
              </a:rPr>
              <a:t>THIẾT KẾ</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61C"/>
                </a:solidFill>
                <a:latin typeface="Be Vietnam Pro" pitchFamily="34" charset="0"/>
                <a:ea typeface="Be Vietnam Pro" pitchFamily="34" charset="-122"/>
                <a:cs typeface="Be Vietnam Pro" pitchFamily="34" charset="-120"/>
              </a:rPr>
              <a:t>Cơ sở dữ liệu</a:t>
            </a:r>
            <a:endParaRPr lang="en-US" sz="3600" dirty="0"/>
          </a:p>
        </p:txBody>
      </p:sp>
      <p:sp>
        <p:nvSpPr>
          <p:cNvPr id="4" name="Shape 2"/>
          <p:cNvSpPr/>
          <p:nvPr/>
        </p:nvSpPr>
        <p:spPr>
          <a:xfrm>
            <a:off x="815975" y="1938536"/>
            <a:ext cx="3397250" cy="1740793"/>
          </a:xfrm>
          <a:prstGeom prst="roundRect">
            <a:avLst>
              <a:gd name="adj" fmla="val 7113"/>
            </a:avLst>
          </a:prstGeom>
          <a:solidFill>
            <a:srgbClr val="FFFFFF"/>
          </a:solidFill>
          <a:ln w="6350">
            <a:solidFill>
              <a:srgbClr val="DDD9CF"/>
            </a:solidFill>
            <a:prstDash val="solid"/>
          </a:ln>
        </p:spPr>
      </p:sp>
      <p:sp>
        <p:nvSpPr>
          <p:cNvPr id="5" name="Text 3"/>
          <p:cNvSpPr/>
          <p:nvPr/>
        </p:nvSpPr>
        <p:spPr>
          <a:xfrm>
            <a:off x="1047750" y="2170311"/>
            <a:ext cx="302171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61C"/>
                </a:solidFill>
                <a:latin typeface="Be Vietnam Pro" pitchFamily="34" charset="0"/>
                <a:ea typeface="Be Vietnam Pro" pitchFamily="34" charset="-122"/>
                <a:cs typeface="Be Vietnam Pro" pitchFamily="34" charset="-120"/>
              </a:rPr>
              <a:t>Danh mục và sản phẩm</a:t>
            </a:r>
            <a:endParaRPr lang="en-US" sz="1600" dirty="0"/>
          </a:p>
        </p:txBody>
      </p:sp>
      <p:sp>
        <p:nvSpPr>
          <p:cNvPr id="6" name="Text 4"/>
          <p:cNvSpPr/>
          <p:nvPr/>
        </p:nvSpPr>
        <p:spPr>
          <a:xfrm>
            <a:off x="1047750" y="2490291"/>
            <a:ext cx="3021711" cy="98266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060"/>
                </a:solidFill>
                <a:latin typeface="Be Vietnam Pro" pitchFamily="34" charset="0"/>
                <a:ea typeface="Be Vietnam Pro" pitchFamily="34" charset="-122"/>
                <a:cs typeface="Be Vietnam Pro" pitchFamily="34" charset="-120"/>
              </a:rPr>
              <a:t>Categories, Products, ProductVariants, OptionTypes, OptionValues, VariantOptions, ProductImages</a:t>
            </a:r>
            <a:endParaRPr lang="en-US" sz="1300" dirty="0"/>
          </a:p>
        </p:txBody>
      </p:sp>
      <p:sp>
        <p:nvSpPr>
          <p:cNvPr id="7" name="Shape 5"/>
          <p:cNvSpPr/>
          <p:nvPr/>
        </p:nvSpPr>
        <p:spPr>
          <a:xfrm>
            <a:off x="4397375" y="1938536"/>
            <a:ext cx="3397250" cy="1740793"/>
          </a:xfrm>
          <a:prstGeom prst="roundRect">
            <a:avLst>
              <a:gd name="adj" fmla="val 7113"/>
            </a:avLst>
          </a:prstGeom>
          <a:solidFill>
            <a:srgbClr val="FFFFFF"/>
          </a:solidFill>
          <a:ln w="6350">
            <a:solidFill>
              <a:srgbClr val="DDD9CF"/>
            </a:solidFill>
            <a:prstDash val="solid"/>
          </a:ln>
        </p:spPr>
      </p:sp>
      <p:sp>
        <p:nvSpPr>
          <p:cNvPr id="8" name="Text 6"/>
          <p:cNvSpPr/>
          <p:nvPr/>
        </p:nvSpPr>
        <p:spPr>
          <a:xfrm>
            <a:off x="4629150" y="2170311"/>
            <a:ext cx="302171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61C"/>
                </a:solidFill>
                <a:latin typeface="Be Vietnam Pro" pitchFamily="34" charset="0"/>
                <a:ea typeface="Be Vietnam Pro" pitchFamily="34" charset="-122"/>
                <a:cs typeface="Be Vietnam Pro" pitchFamily="34" charset="-120"/>
              </a:rPr>
              <a:t>Mua hàng</a:t>
            </a:r>
            <a:endParaRPr lang="en-US" sz="1600" dirty="0"/>
          </a:p>
        </p:txBody>
      </p:sp>
      <p:sp>
        <p:nvSpPr>
          <p:cNvPr id="9" name="Text 7"/>
          <p:cNvSpPr/>
          <p:nvPr/>
        </p:nvSpPr>
        <p:spPr>
          <a:xfrm>
            <a:off x="4629150" y="2490291"/>
            <a:ext cx="3021711"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060"/>
                </a:solidFill>
                <a:latin typeface="Be Vietnam Pro" pitchFamily="34" charset="0"/>
                <a:ea typeface="Be Vietnam Pro" pitchFamily="34" charset="-122"/>
                <a:cs typeface="Be Vietnam Pro" pitchFamily="34" charset="-120"/>
              </a:rPr>
              <a:t>Carts, CartItems, Orders, OrderItems, Payments, Shipments, Addresses</a:t>
            </a:r>
            <a:endParaRPr lang="en-US" sz="1300" dirty="0"/>
          </a:p>
        </p:txBody>
      </p:sp>
      <p:sp>
        <p:nvSpPr>
          <p:cNvPr id="10" name="Shape 8"/>
          <p:cNvSpPr/>
          <p:nvPr/>
        </p:nvSpPr>
        <p:spPr>
          <a:xfrm>
            <a:off x="7978775" y="1938536"/>
            <a:ext cx="3397250" cy="1740793"/>
          </a:xfrm>
          <a:prstGeom prst="roundRect">
            <a:avLst>
              <a:gd name="adj" fmla="val 7113"/>
            </a:avLst>
          </a:prstGeom>
          <a:solidFill>
            <a:srgbClr val="FFFFFF"/>
          </a:solidFill>
          <a:ln w="6350">
            <a:solidFill>
              <a:srgbClr val="DDD9CF"/>
            </a:solidFill>
            <a:prstDash val="solid"/>
          </a:ln>
        </p:spPr>
      </p:sp>
      <p:sp>
        <p:nvSpPr>
          <p:cNvPr id="11" name="Text 9"/>
          <p:cNvSpPr/>
          <p:nvPr/>
        </p:nvSpPr>
        <p:spPr>
          <a:xfrm>
            <a:off x="8210550" y="2170311"/>
            <a:ext cx="302171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61C"/>
                </a:solidFill>
                <a:latin typeface="Be Vietnam Pro" pitchFamily="34" charset="0"/>
                <a:ea typeface="Be Vietnam Pro" pitchFamily="34" charset="-122"/>
                <a:cs typeface="Be Vietnam Pro" pitchFamily="34" charset="-120"/>
              </a:rPr>
              <a:t>Tài khoản và đánh giá</a:t>
            </a:r>
            <a:endParaRPr lang="en-US" sz="1600" dirty="0"/>
          </a:p>
        </p:txBody>
      </p:sp>
      <p:sp>
        <p:nvSpPr>
          <p:cNvPr id="12" name="Text 10"/>
          <p:cNvSpPr/>
          <p:nvPr/>
        </p:nvSpPr>
        <p:spPr>
          <a:xfrm>
            <a:off x="8210550" y="2490291"/>
            <a:ext cx="3021711"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060"/>
                </a:solidFill>
                <a:latin typeface="Be Vietnam Pro" pitchFamily="34" charset="0"/>
                <a:ea typeface="Be Vietnam Pro" pitchFamily="34" charset="-122"/>
                <a:cs typeface="Be Vietnam Pro" pitchFamily="34" charset="-120"/>
              </a:rPr>
              <a:t>Users, UserTokens (Identity), Reviews, Favorites, CompareLists</a:t>
            </a:r>
            <a:endParaRPr lang="en-US" sz="1300" dirty="0"/>
          </a:p>
        </p:txBody>
      </p:sp>
      <p:sp>
        <p:nvSpPr>
          <p:cNvPr id="13" name="Shape 11"/>
          <p:cNvSpPr/>
          <p:nvPr/>
        </p:nvSpPr>
        <p:spPr>
          <a:xfrm>
            <a:off x="812800" y="3987304"/>
            <a:ext cx="10566400" cy="1495127"/>
          </a:xfrm>
          <a:prstGeom prst="roundRect">
            <a:avLst>
              <a:gd name="adj" fmla="val 8494"/>
            </a:avLst>
          </a:prstGeom>
          <a:solidFill>
            <a:srgbClr val="E6ECFF"/>
          </a:solidFill>
          <a:ln/>
        </p:spPr>
      </p:sp>
      <p:sp>
        <p:nvSpPr>
          <p:cNvPr id="14" name="Text 12"/>
          <p:cNvSpPr/>
          <p:nvPr/>
        </p:nvSpPr>
        <p:spPr>
          <a:xfrm>
            <a:off x="1041400" y="4215904"/>
            <a:ext cx="1041247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61C"/>
                </a:solidFill>
                <a:latin typeface="Be Vietnam Pro" pitchFamily="34" charset="0"/>
                <a:ea typeface="Be Vietnam Pro" pitchFamily="34" charset="-122"/>
                <a:cs typeface="Be Vietnam Pro" pitchFamily="34" charset="-120"/>
              </a:rPr>
              <a:t>Bổ sung so với đặc tả, có ghi lý do</a:t>
            </a:r>
            <a:endParaRPr lang="en-US" sz="1600" dirty="0"/>
          </a:p>
        </p:txBody>
      </p:sp>
      <p:sp>
        <p:nvSpPr>
          <p:cNvPr id="15" name="Text 13"/>
          <p:cNvSpPr/>
          <p:nvPr/>
        </p:nvSpPr>
        <p:spPr>
          <a:xfrm>
            <a:off x="1041400" y="4535884"/>
            <a:ext cx="10412476"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2B3245"/>
                </a:solidFill>
                <a:latin typeface="Be Vietnam Pro" pitchFamily="34" charset="0"/>
                <a:ea typeface="Be Vietnam Pro" pitchFamily="34" charset="-122"/>
                <a:cs typeface="Be Vietnam Pro" pitchFamily="34" charset="-120"/>
              </a:rPr>
              <a:t>Vouchers, VoucherProducts (BM_VOUCHER_01) và cột Kind cho khuyến mãi; PriceChanges (lịch sử giá, BM_PRICE_01); StockReceipts, StockReceiptLines (phiếu nhập); Orders thêm Channel, SoldByUserId, FormKey cho bán tại quầy; OrderTrackLockouts (khóa tra cứu đơn). Mọi thay đổi bằng EF Core migration.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F13"/>
        </a:solidFill>
      </p:bgPr>
    </p:bg>
    <p:spTree>
      <p:nvGrpSpPr>
        <p:cNvPr id="1" name=""/>
        <p:cNvGrpSpPr/>
        <p:nvPr/>
      </p:nvGrpSpPr>
      <p:grpSpPr>
        <a:xfrm>
          <a:off x="0" y="0"/>
          <a:ext cx="0" cy="0"/>
          <a:chOff x="0" y="0"/>
          <a:chExt cx="0" cy="0"/>
        </a:xfrm>
      </p:grpSpPr>
      <p:sp>
        <p:nvSpPr>
          <p:cNvPr id="2" name="Text 0"/>
          <p:cNvSpPr/>
          <p:nvPr/>
        </p:nvSpPr>
        <p:spPr>
          <a:xfrm>
            <a:off x="812800" y="1789509"/>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A2FF"/>
                </a:solidFill>
                <a:latin typeface="Be Vietnam Pro" pitchFamily="34" charset="0"/>
                <a:ea typeface="Be Vietnam Pro" pitchFamily="34" charset="-122"/>
                <a:cs typeface="Be Vietnam Pro" pitchFamily="34" charset="-120"/>
              </a:rPr>
              <a:t>KHÁCH HÀNG</a:t>
            </a:r>
            <a:endParaRPr lang="en-US" sz="1200" dirty="0"/>
          </a:p>
        </p:txBody>
      </p:sp>
      <p:sp>
        <p:nvSpPr>
          <p:cNvPr id="3" name="Text 1"/>
          <p:cNvSpPr/>
          <p:nvPr>
            <p:ph type="title"/>
          </p:nvPr>
        </p:nvSpPr>
        <p:spPr>
          <a:xfrm>
            <a:off x="812800" y="2155230"/>
            <a:ext cx="3139440"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2EC"/>
                </a:solidFill>
                <a:latin typeface="Be Vietnam Pro" pitchFamily="34" charset="0"/>
                <a:ea typeface="Be Vietnam Pro" pitchFamily="34" charset="-122"/>
                <a:cs typeface="Be Vietnam Pro" pitchFamily="34" charset="-120"/>
              </a:rPr>
              <a:t>Xem và chọn sản phẩm</a:t>
            </a:r>
            <a:endParaRPr lang="en-US" sz="3200" dirty="0"/>
          </a:p>
        </p:txBody>
      </p:sp>
      <p:sp>
        <p:nvSpPr>
          <p:cNvPr id="4" name="Text 2"/>
          <p:cNvSpPr/>
          <p:nvPr/>
        </p:nvSpPr>
        <p:spPr>
          <a:xfrm>
            <a:off x="897382" y="3201591"/>
            <a:ext cx="3047238" cy="18923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Danh mục, tìm kiếm, lọc theo khoảng giá</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Chọn cấu hình, màu, vùng; giá đổi theo lựa chọn</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Giá khuyến mãi, giá cũ gạch ngang</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So sánh tối đa 3 sản phẩm</a:t>
            </a:r>
            <a:endParaRPr lang="en-US" sz="1400" dirty="0"/>
          </a:p>
        </p:txBody>
      </p:sp>
      <p:sp>
        <p:nvSpPr>
          <p:cNvPr id="5" name="Shape 3"/>
          <p:cNvSpPr/>
          <p:nvPr/>
        </p:nvSpPr>
        <p:spPr>
          <a:xfrm>
            <a:off x="4267200" y="857250"/>
            <a:ext cx="7112000" cy="5143500"/>
          </a:xfrm>
          <a:prstGeom prst="roundRect">
            <a:avLst>
              <a:gd name="adj" fmla="val 1975"/>
            </a:avLst>
          </a:prstGeom>
          <a:solidFill>
            <a:srgbClr val="181A21"/>
          </a:solidFill>
          <a:ln/>
        </p:spPr>
      </p:sp>
      <p:pic>
        <p:nvPicPr>
          <p:cNvPr id="6" name="Image 0" descr="Trang cấu hình iPhone 18 Pro Max với giá khuyến mãi">    </p:cNvPr>
          <p:cNvPicPr>
            <a:picLocks noChangeAspect="1"/>
          </p:cNvPicPr>
          <p:nvPr/>
        </p:nvPicPr>
        <p:blipFill>
          <a:blip r:embed="rId1"/>
          <a:srcRect l="-67" r="-67" t="0" b="0"/>
          <a:stretch/>
        </p:blipFill>
        <p:spPr>
          <a:xfrm>
            <a:off x="4273550" y="863600"/>
            <a:ext cx="7099300" cy="5130800"/>
          </a:xfrm>
          <a:prstGeom prst="roundRect">
            <a:avLst>
              <a:gd name="adj" fmla="val 1856"/>
            </a:avLst>
          </a:prstGeom>
        </p:spPr>
      </p:pic>
      <p:sp>
        <p:nvSpPr>
          <p:cNvPr id="7" name="Shape 4"/>
          <p:cNvSpPr/>
          <p:nvPr/>
        </p:nvSpPr>
        <p:spPr>
          <a:xfrm>
            <a:off x="4270375" y="860425"/>
            <a:ext cx="7105650" cy="5137150"/>
          </a:xfrm>
          <a:prstGeom prst="roundRect">
            <a:avLst>
              <a:gd name="adj" fmla="val 1916"/>
            </a:avLst>
          </a:prstGeom>
          <a:noFill/>
          <a:ln w="6350">
            <a:solidFill>
              <a:srgbClr val="2A2D38"/>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0F13"/>
        </a:solidFill>
      </p:bgPr>
    </p:bg>
    <p:spTree>
      <p:nvGrpSpPr>
        <p:cNvPr id="1" name=""/>
        <p:cNvGrpSpPr/>
        <p:nvPr/>
      </p:nvGrpSpPr>
      <p:grpSpPr>
        <a:xfrm>
          <a:off x="0" y="0"/>
          <a:ext cx="0" cy="0"/>
          <a:chOff x="0" y="0"/>
          <a:chExt cx="0" cy="0"/>
        </a:xfrm>
      </p:grpSpPr>
      <p:sp>
        <p:nvSpPr>
          <p:cNvPr id="2" name="Text 0"/>
          <p:cNvSpPr/>
          <p:nvPr/>
        </p:nvSpPr>
        <p:spPr>
          <a:xfrm>
            <a:off x="812800" y="1922859"/>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A2FF"/>
                </a:solidFill>
                <a:latin typeface="Be Vietnam Pro" pitchFamily="34" charset="0"/>
                <a:ea typeface="Be Vietnam Pro" pitchFamily="34" charset="-122"/>
                <a:cs typeface="Be Vietnam Pro" pitchFamily="34" charset="-120"/>
              </a:rPr>
              <a:t>ĐẶT HÀNG</a:t>
            </a:r>
            <a:endParaRPr lang="en-US" sz="1200" dirty="0"/>
          </a:p>
        </p:txBody>
      </p:sp>
      <p:sp>
        <p:nvSpPr>
          <p:cNvPr id="3" name="Text 1"/>
          <p:cNvSpPr/>
          <p:nvPr>
            <p:ph type="title"/>
          </p:nvPr>
        </p:nvSpPr>
        <p:spPr>
          <a:xfrm>
            <a:off x="812800" y="2288580"/>
            <a:ext cx="3139440"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2EC"/>
                </a:solidFill>
                <a:latin typeface="Be Vietnam Pro" pitchFamily="34" charset="0"/>
                <a:ea typeface="Be Vietnam Pro" pitchFamily="34" charset="-122"/>
                <a:cs typeface="Be Vietnam Pro" pitchFamily="34" charset="-120"/>
              </a:rPr>
              <a:t>Đặt hàng an toàn</a:t>
            </a:r>
            <a:endParaRPr lang="en-US" sz="3200" dirty="0"/>
          </a:p>
        </p:txBody>
      </p:sp>
      <p:sp>
        <p:nvSpPr>
          <p:cNvPr id="4" name="Text 2"/>
          <p:cNvSpPr/>
          <p:nvPr/>
        </p:nvSpPr>
        <p:spPr>
          <a:xfrm>
            <a:off x="897382" y="3334941"/>
            <a:ext cx="3047238" cy="16256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Trừ kho, dùng voucher, xóa giỏ trong một transaction</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Giá đổi lúc đang mở trang: hiện tổng mới, không tính tiền ngầm</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COD, VNPay, MoMo (cổng giả lập, ký HMAC-SHA512)</a:t>
            </a:r>
            <a:endParaRPr lang="en-US" sz="1400" dirty="0"/>
          </a:p>
        </p:txBody>
      </p:sp>
      <p:sp>
        <p:nvSpPr>
          <p:cNvPr id="5" name="Shape 3"/>
          <p:cNvSpPr/>
          <p:nvPr/>
        </p:nvSpPr>
        <p:spPr>
          <a:xfrm>
            <a:off x="4267200" y="1060450"/>
            <a:ext cx="3556000" cy="2882900"/>
          </a:xfrm>
          <a:prstGeom prst="roundRect">
            <a:avLst>
              <a:gd name="adj" fmla="val 3524"/>
            </a:avLst>
          </a:prstGeom>
          <a:solidFill>
            <a:srgbClr val="181A21"/>
          </a:solidFill>
          <a:ln/>
        </p:spPr>
      </p:sp>
      <p:pic>
        <p:nvPicPr>
          <p:cNvPr id="6" name="Image 0" descr="Ô voucher WELCOME10 đã áp dụng và ba cách thanh toán">    </p:cNvPr>
          <p:cNvPicPr>
            <a:picLocks noChangeAspect="1"/>
          </p:cNvPicPr>
          <p:nvPr/>
        </p:nvPicPr>
        <p:blipFill>
          <a:blip r:embed="rId1"/>
          <a:srcRect l="-66" r="-66" t="0" b="0"/>
          <a:stretch/>
        </p:blipFill>
        <p:spPr>
          <a:xfrm>
            <a:off x="4273550" y="1066800"/>
            <a:ext cx="3543300" cy="2870200"/>
          </a:xfrm>
          <a:prstGeom prst="roundRect">
            <a:avLst>
              <a:gd name="adj" fmla="val 3319"/>
            </a:avLst>
          </a:prstGeom>
        </p:spPr>
      </p:pic>
      <p:sp>
        <p:nvSpPr>
          <p:cNvPr id="7" name="Shape 4"/>
          <p:cNvSpPr/>
          <p:nvPr/>
        </p:nvSpPr>
        <p:spPr>
          <a:xfrm>
            <a:off x="4270375" y="1063625"/>
            <a:ext cx="3549650" cy="2876550"/>
          </a:xfrm>
          <a:prstGeom prst="roundRect">
            <a:avLst>
              <a:gd name="adj" fmla="val 3422"/>
            </a:avLst>
          </a:prstGeom>
          <a:noFill/>
          <a:ln w="6350">
            <a:solidFill>
              <a:srgbClr val="2A2D38"/>
            </a:solidFill>
            <a:prstDash val="solid"/>
          </a:ln>
        </p:spPr>
      </p:sp>
      <p:sp>
        <p:nvSpPr>
          <p:cNvPr id="8" name="Shape 5"/>
          <p:cNvSpPr/>
          <p:nvPr/>
        </p:nvSpPr>
        <p:spPr>
          <a:xfrm>
            <a:off x="8026400" y="1060450"/>
            <a:ext cx="3352800" cy="4737100"/>
          </a:xfrm>
          <a:prstGeom prst="roundRect">
            <a:avLst>
              <a:gd name="adj" fmla="val 3030"/>
            </a:avLst>
          </a:prstGeom>
          <a:solidFill>
            <a:srgbClr val="181A21"/>
          </a:solidFill>
          <a:ln/>
        </p:spPr>
      </p:sp>
      <p:pic>
        <p:nvPicPr>
          <p:cNvPr id="9" name="Image 1" descr="Khung tóm tắt đơn: tạm tính, giảm voucher, tổng tiền">    </p:cNvPr>
          <p:cNvPicPr>
            <a:picLocks noChangeAspect="1"/>
          </p:cNvPicPr>
          <p:nvPr/>
        </p:nvPicPr>
        <p:blipFill>
          <a:blip r:embed="rId2"/>
          <a:srcRect l="0" r="0" t="-68" b="-68"/>
          <a:stretch/>
        </p:blipFill>
        <p:spPr>
          <a:xfrm>
            <a:off x="8032750" y="1066800"/>
            <a:ext cx="3340100" cy="4724400"/>
          </a:xfrm>
          <a:prstGeom prst="roundRect">
            <a:avLst>
              <a:gd name="adj" fmla="val 2852"/>
            </a:avLst>
          </a:prstGeom>
        </p:spPr>
      </p:pic>
      <p:sp>
        <p:nvSpPr>
          <p:cNvPr id="10" name="Shape 6"/>
          <p:cNvSpPr/>
          <p:nvPr/>
        </p:nvSpPr>
        <p:spPr>
          <a:xfrm>
            <a:off x="8029575" y="1063625"/>
            <a:ext cx="3346450" cy="4730750"/>
          </a:xfrm>
          <a:prstGeom prst="roundRect">
            <a:avLst>
              <a:gd name="adj" fmla="val 2941"/>
            </a:avLst>
          </a:prstGeom>
          <a:noFill/>
          <a:ln w="6350">
            <a:solidFill>
              <a:srgbClr val="2A2D38"/>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0F13"/>
        </a:solidFill>
      </p:bgPr>
    </p:bg>
    <p:spTree>
      <p:nvGrpSpPr>
        <p:cNvPr id="1" name=""/>
        <p:cNvGrpSpPr/>
        <p:nvPr/>
      </p:nvGrpSpPr>
      <p:grpSpPr>
        <a:xfrm>
          <a:off x="0" y="0"/>
          <a:ext cx="0" cy="0"/>
          <a:chOff x="0" y="0"/>
          <a:chExt cx="0" cy="0"/>
        </a:xfrm>
      </p:grpSpPr>
      <p:sp>
        <p:nvSpPr>
          <p:cNvPr id="2" name="Text 0"/>
          <p:cNvSpPr/>
          <p:nvPr/>
        </p:nvSpPr>
        <p:spPr>
          <a:xfrm>
            <a:off x="812800" y="18796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A2FF"/>
                </a:solidFill>
                <a:latin typeface="Be Vietnam Pro" pitchFamily="34" charset="0"/>
                <a:ea typeface="Be Vietnam Pro" pitchFamily="34" charset="-122"/>
                <a:cs typeface="Be Vietnam Pro" pitchFamily="34" charset="-120"/>
              </a:rPr>
              <a:t>NHÂN VIÊN</a:t>
            </a:r>
            <a:endParaRPr lang="en-US" sz="1200" dirty="0"/>
          </a:p>
        </p:txBody>
      </p:sp>
      <p:sp>
        <p:nvSpPr>
          <p:cNvPr id="3" name="Text 1"/>
          <p:cNvSpPr/>
          <p:nvPr>
            <p:ph type="title"/>
          </p:nvPr>
        </p:nvSpPr>
        <p:spPr>
          <a:xfrm>
            <a:off x="812800" y="2245320"/>
            <a:ext cx="345440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2EC"/>
                </a:solidFill>
                <a:latin typeface="Be Vietnam Pro" pitchFamily="34" charset="0"/>
                <a:ea typeface="Be Vietnam Pro" pitchFamily="34" charset="-122"/>
                <a:cs typeface="Be Vietnam Pro" pitchFamily="34" charset="-120"/>
              </a:rPr>
              <a:t>Xử lý đơn hàng</a:t>
            </a:r>
            <a:endParaRPr lang="en-US" sz="3200" dirty="0"/>
          </a:p>
        </p:txBody>
      </p:sp>
      <p:sp>
        <p:nvSpPr>
          <p:cNvPr id="4" name="Text 2"/>
          <p:cNvSpPr/>
          <p:nvPr/>
        </p:nvSpPr>
        <p:spPr>
          <a:xfrm>
            <a:off x="897382" y="2844701"/>
            <a:ext cx="3047238" cy="21590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Xác nhận, giao (hãng, mã vận đơn), hoàn tất, hủy</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Mọi bước theo một bảng quy tắc duy nhất</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Hai người bấm cùng lúc: chỉ một lần có hiệu lực</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In hóa đơn, in nhiều hóa đơn một lần</a:t>
            </a:r>
            <a:endParaRPr lang="en-US" sz="1400" dirty="0"/>
          </a:p>
        </p:txBody>
      </p:sp>
      <p:sp>
        <p:nvSpPr>
          <p:cNvPr id="5" name="Shape 3"/>
          <p:cNvSpPr/>
          <p:nvPr/>
        </p:nvSpPr>
        <p:spPr>
          <a:xfrm>
            <a:off x="4267200" y="1206500"/>
            <a:ext cx="7112000" cy="4445000"/>
          </a:xfrm>
          <a:prstGeom prst="roundRect">
            <a:avLst>
              <a:gd name="adj" fmla="val 2286"/>
            </a:avLst>
          </a:prstGeom>
          <a:solidFill>
            <a:srgbClr val="181A21"/>
          </a:solidFill>
          <a:ln/>
        </p:spPr>
      </p:sp>
      <p:pic>
        <p:nvPicPr>
          <p:cNvPr id="6" name="Image 0" descr="Chi tiết đơn hàng của nhân viên: đang giao, mã vận đơn GHN, nút Mark delivered">    </p:cNvPr>
          <p:cNvPicPr>
            <a:picLocks noChangeAspect="1"/>
          </p:cNvPicPr>
          <p:nvPr/>
        </p:nvPicPr>
        <p:blipFill>
          <a:blip r:embed="rId1"/>
          <a:srcRect l="-60" r="-60" t="0" b="0"/>
          <a:stretch/>
        </p:blipFill>
        <p:spPr>
          <a:xfrm>
            <a:off x="4273550" y="1212850"/>
            <a:ext cx="7099300" cy="4432300"/>
          </a:xfrm>
          <a:prstGeom prst="roundRect">
            <a:avLst>
              <a:gd name="adj" fmla="val 2149"/>
            </a:avLst>
          </a:prstGeom>
        </p:spPr>
      </p:pic>
      <p:sp>
        <p:nvSpPr>
          <p:cNvPr id="7" name="Shape 4"/>
          <p:cNvSpPr/>
          <p:nvPr/>
        </p:nvSpPr>
        <p:spPr>
          <a:xfrm>
            <a:off x="4270375" y="1209675"/>
            <a:ext cx="7105650" cy="4438650"/>
          </a:xfrm>
          <a:prstGeom prst="roundRect">
            <a:avLst>
              <a:gd name="adj" fmla="val 2217"/>
            </a:avLst>
          </a:prstGeom>
          <a:noFill/>
          <a:ln w="6350">
            <a:solidFill>
              <a:srgbClr val="2A2D38"/>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0F13"/>
        </a:solidFill>
      </p:bgPr>
    </p:bg>
    <p:spTree>
      <p:nvGrpSpPr>
        <p:cNvPr id="1" name=""/>
        <p:cNvGrpSpPr/>
        <p:nvPr/>
      </p:nvGrpSpPr>
      <p:grpSpPr>
        <a:xfrm>
          <a:off x="0" y="0"/>
          <a:ext cx="0" cy="0"/>
          <a:chOff x="0" y="0"/>
          <a:chExt cx="0" cy="0"/>
        </a:xfrm>
      </p:grpSpPr>
      <p:sp>
        <p:nvSpPr>
          <p:cNvPr id="2" name="Text 0"/>
          <p:cNvSpPr/>
          <p:nvPr/>
        </p:nvSpPr>
        <p:spPr>
          <a:xfrm>
            <a:off x="812800" y="2056209"/>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A2FF"/>
                </a:solidFill>
                <a:latin typeface="Be Vietnam Pro" pitchFamily="34" charset="0"/>
                <a:ea typeface="Be Vietnam Pro" pitchFamily="34" charset="-122"/>
                <a:cs typeface="Be Vietnam Pro" pitchFamily="34" charset="-120"/>
              </a:rPr>
              <a:t>QUẢN TRỊ</a:t>
            </a:r>
            <a:endParaRPr lang="en-US" sz="1200" dirty="0"/>
          </a:p>
        </p:txBody>
      </p:sp>
      <p:sp>
        <p:nvSpPr>
          <p:cNvPr id="3" name="Text 1"/>
          <p:cNvSpPr/>
          <p:nvPr>
            <p:ph type="title"/>
          </p:nvPr>
        </p:nvSpPr>
        <p:spPr>
          <a:xfrm>
            <a:off x="812800" y="2421930"/>
            <a:ext cx="3139440"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2EC"/>
                </a:solidFill>
                <a:latin typeface="Be Vietnam Pro" pitchFamily="34" charset="0"/>
                <a:ea typeface="Be Vietnam Pro" pitchFamily="34" charset="-122"/>
                <a:cs typeface="Be Vietnam Pro" pitchFamily="34" charset="-120"/>
              </a:rPr>
              <a:t>Báo cáo doanh thu</a:t>
            </a:r>
            <a:endParaRPr lang="en-US" sz="3200" dirty="0"/>
          </a:p>
        </p:txBody>
      </p:sp>
      <p:sp>
        <p:nvSpPr>
          <p:cNvPr id="4" name="Text 2"/>
          <p:cNvSpPr/>
          <p:nvPr/>
        </p:nvSpPr>
        <p:spPr>
          <a:xfrm>
            <a:off x="897382" y="3468291"/>
            <a:ext cx="3047238" cy="13589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Chỉ tính đơn đã thanh toán, không bị hủy</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Theo ngày giờ Việt Nam</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Theo ngày và theo sản phẩm</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Xuất Excel, in hoặc lưu PDF</a:t>
            </a:r>
            <a:endParaRPr lang="en-US" sz="1400" dirty="0"/>
          </a:p>
        </p:txBody>
      </p:sp>
      <p:sp>
        <p:nvSpPr>
          <p:cNvPr id="5" name="Shape 3"/>
          <p:cNvSpPr/>
          <p:nvPr/>
        </p:nvSpPr>
        <p:spPr>
          <a:xfrm>
            <a:off x="4267200" y="1714500"/>
            <a:ext cx="7112000" cy="3429000"/>
          </a:xfrm>
          <a:prstGeom prst="roundRect">
            <a:avLst>
              <a:gd name="adj" fmla="val 2963"/>
            </a:avLst>
          </a:prstGeom>
          <a:solidFill>
            <a:srgbClr val="181A21"/>
          </a:solidFill>
          <a:ln/>
        </p:spPr>
      </p:sp>
      <p:pic>
        <p:nvPicPr>
          <p:cNvPr id="6" name="Image 0" descr="Bốn thẻ số liệu: doanh thu, số đơn đã thanh toán, số sản phẩm, giá trị đơn trung bình">    </p:cNvPr>
          <p:cNvPicPr>
            <a:picLocks noChangeAspect="1"/>
          </p:cNvPicPr>
          <p:nvPr/>
        </p:nvPicPr>
        <p:blipFill>
          <a:blip r:embed="rId1"/>
          <a:srcRect l="-51" r="-51" t="0" b="0"/>
          <a:stretch/>
        </p:blipFill>
        <p:spPr>
          <a:xfrm>
            <a:off x="4273550" y="1720850"/>
            <a:ext cx="7099300" cy="3416300"/>
          </a:xfrm>
          <a:prstGeom prst="roundRect">
            <a:avLst>
              <a:gd name="adj" fmla="val 2788"/>
            </a:avLst>
          </a:prstGeom>
        </p:spPr>
      </p:pic>
      <p:sp>
        <p:nvSpPr>
          <p:cNvPr id="7" name="Shape 4"/>
          <p:cNvSpPr/>
          <p:nvPr/>
        </p:nvSpPr>
        <p:spPr>
          <a:xfrm>
            <a:off x="4270375" y="1717675"/>
            <a:ext cx="7105650" cy="3422650"/>
          </a:xfrm>
          <a:prstGeom prst="roundRect">
            <a:avLst>
              <a:gd name="adj" fmla="val 2876"/>
            </a:avLst>
          </a:prstGeom>
          <a:noFill/>
          <a:ln w="6350">
            <a:solidFill>
              <a:srgbClr val="2A2D38"/>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0F13"/>
        </a:solidFill>
      </p:bgPr>
    </p:bg>
    <p:spTree>
      <p:nvGrpSpPr>
        <p:cNvPr id="1" name=""/>
        <p:cNvGrpSpPr/>
        <p:nvPr/>
      </p:nvGrpSpPr>
      <p:grpSpPr>
        <a:xfrm>
          <a:off x="0" y="0"/>
          <a:ext cx="0" cy="0"/>
          <a:chOff x="0" y="0"/>
          <a:chExt cx="0" cy="0"/>
        </a:xfrm>
      </p:grpSpPr>
      <p:sp>
        <p:nvSpPr>
          <p:cNvPr id="2" name="Text 0"/>
          <p:cNvSpPr/>
          <p:nvPr/>
        </p:nvSpPr>
        <p:spPr>
          <a:xfrm>
            <a:off x="812800" y="1656159"/>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A2FF"/>
                </a:solidFill>
                <a:latin typeface="Be Vietnam Pro" pitchFamily="34" charset="0"/>
                <a:ea typeface="Be Vietnam Pro" pitchFamily="34" charset="-122"/>
                <a:cs typeface="Be Vietnam Pro" pitchFamily="34" charset="-120"/>
              </a:rPr>
              <a:t>QUẢN TRỊ</a:t>
            </a:r>
            <a:endParaRPr lang="en-US" sz="1200" dirty="0"/>
          </a:p>
        </p:txBody>
      </p:sp>
      <p:sp>
        <p:nvSpPr>
          <p:cNvPr id="3" name="Text 1"/>
          <p:cNvSpPr/>
          <p:nvPr>
            <p:ph type="title"/>
          </p:nvPr>
        </p:nvSpPr>
        <p:spPr>
          <a:xfrm>
            <a:off x="812800" y="2021880"/>
            <a:ext cx="3139440"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2EC"/>
                </a:solidFill>
                <a:latin typeface="Be Vietnam Pro" pitchFamily="34" charset="0"/>
                <a:ea typeface="Be Vietnam Pro" pitchFamily="34" charset="-122"/>
                <a:cs typeface="Be Vietnam Pro" pitchFamily="34" charset="-120"/>
              </a:rPr>
              <a:t>Khuyến mãi theo thời gian</a:t>
            </a:r>
            <a:endParaRPr lang="en-US" sz="3200" dirty="0"/>
          </a:p>
        </p:txBody>
      </p:sp>
      <p:sp>
        <p:nvSpPr>
          <p:cNvPr id="4" name="Text 2"/>
          <p:cNvSpPr/>
          <p:nvPr/>
        </p:nvSpPr>
        <p:spPr>
          <a:xfrm>
            <a:off x="897382" y="3068241"/>
            <a:ext cx="3047238" cy="21590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Giảm theo % hoặc số tiền, có ngày bắt đầu và kết thúc</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Chồng lấn: lấy mức giảm lớn nhất</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Voucher cộng thêm, tính trên giá đã giảm</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Giá đang bán tính ở một chỗ duy nhất</a:t>
            </a:r>
            <a:endParaRPr lang="en-US" sz="1400" dirty="0"/>
          </a:p>
        </p:txBody>
      </p:sp>
      <p:sp>
        <p:nvSpPr>
          <p:cNvPr id="5" name="Shape 3"/>
          <p:cNvSpPr/>
          <p:nvPr/>
        </p:nvSpPr>
        <p:spPr>
          <a:xfrm>
            <a:off x="4267200" y="1974850"/>
            <a:ext cx="7112000" cy="1428750"/>
          </a:xfrm>
          <a:prstGeom prst="roundRect">
            <a:avLst>
              <a:gd name="adj" fmla="val 7111"/>
            </a:avLst>
          </a:prstGeom>
          <a:solidFill>
            <a:srgbClr val="181A21"/>
          </a:solidFill>
          <a:ln/>
        </p:spPr>
      </p:sp>
      <p:pic>
        <p:nvPicPr>
          <p:cNvPr id="6" name="Image 0" descr="Danh sách khuyến mãi: Ưu đãi tháng 10, giảm 5%, đang chạy">    </p:cNvPr>
          <p:cNvPicPr>
            <a:picLocks noChangeAspect="1"/>
          </p:cNvPicPr>
          <p:nvPr/>
        </p:nvPicPr>
        <p:blipFill>
          <a:blip r:embed="rId1"/>
          <a:srcRect l="-440" r="-440" t="0" b="0"/>
          <a:stretch/>
        </p:blipFill>
        <p:spPr>
          <a:xfrm>
            <a:off x="4273550" y="1981200"/>
            <a:ext cx="7099300" cy="1416050"/>
          </a:xfrm>
          <a:prstGeom prst="roundRect">
            <a:avLst>
              <a:gd name="adj" fmla="val 6726"/>
            </a:avLst>
          </a:prstGeom>
        </p:spPr>
      </p:pic>
      <p:sp>
        <p:nvSpPr>
          <p:cNvPr id="7" name="Shape 4"/>
          <p:cNvSpPr/>
          <p:nvPr/>
        </p:nvSpPr>
        <p:spPr>
          <a:xfrm>
            <a:off x="4270375" y="1978025"/>
            <a:ext cx="7105650" cy="1422400"/>
          </a:xfrm>
          <a:prstGeom prst="roundRect">
            <a:avLst>
              <a:gd name="adj" fmla="val 6920"/>
            </a:avLst>
          </a:prstGeom>
          <a:noFill/>
          <a:ln w="6350">
            <a:solidFill>
              <a:srgbClr val="2A2D38"/>
            </a:solidFill>
            <a:prstDash val="solid"/>
          </a:ln>
        </p:spPr>
      </p:sp>
      <p:sp>
        <p:nvSpPr>
          <p:cNvPr id="8" name="Shape 5"/>
          <p:cNvSpPr/>
          <p:nvPr/>
        </p:nvSpPr>
        <p:spPr>
          <a:xfrm>
            <a:off x="4267200" y="3606800"/>
            <a:ext cx="7112000" cy="1276350"/>
          </a:xfrm>
          <a:prstGeom prst="roundRect">
            <a:avLst>
              <a:gd name="adj" fmla="val 7960"/>
            </a:avLst>
          </a:prstGeom>
          <a:solidFill>
            <a:srgbClr val="181A21"/>
          </a:solidFill>
          <a:ln/>
        </p:spPr>
      </p:sp>
      <p:pic>
        <p:nvPicPr>
          <p:cNvPr id="9" name="Image 1" descr="Trang sản phẩm: giá 39.520.000 VNĐ, giá cũ 41.600.000 VNĐ gạch ngang, nhãn Ưu đãi tháng 10">    </p:cNvPr>
          <p:cNvPicPr>
            <a:picLocks noChangeAspect="1"/>
          </p:cNvPicPr>
          <p:nvPr/>
        </p:nvPicPr>
        <p:blipFill>
          <a:blip r:embed="rId2"/>
          <a:srcRect l="-475" r="-475" t="0" b="0"/>
          <a:stretch/>
        </p:blipFill>
        <p:spPr>
          <a:xfrm>
            <a:off x="4273550" y="3613150"/>
            <a:ext cx="7099300" cy="1263650"/>
          </a:xfrm>
          <a:prstGeom prst="roundRect">
            <a:avLst>
              <a:gd name="adj" fmla="val 7538"/>
            </a:avLst>
          </a:prstGeom>
        </p:spPr>
      </p:pic>
      <p:sp>
        <p:nvSpPr>
          <p:cNvPr id="10" name="Shape 6"/>
          <p:cNvSpPr/>
          <p:nvPr/>
        </p:nvSpPr>
        <p:spPr>
          <a:xfrm>
            <a:off x="4270375" y="3609975"/>
            <a:ext cx="7105650" cy="1270000"/>
          </a:xfrm>
          <a:prstGeom prst="roundRect">
            <a:avLst>
              <a:gd name="adj" fmla="val 7750"/>
            </a:avLst>
          </a:prstGeom>
          <a:noFill/>
          <a:ln w="6350">
            <a:solidFill>
              <a:srgbClr val="2A2D38"/>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0F13"/>
        </a:solidFill>
      </p:bgPr>
    </p:bg>
    <p:spTree>
      <p:nvGrpSpPr>
        <p:cNvPr id="1" name=""/>
        <p:cNvGrpSpPr/>
        <p:nvPr/>
      </p:nvGrpSpPr>
      <p:grpSpPr>
        <a:xfrm>
          <a:off x="0" y="0"/>
          <a:ext cx="0" cy="0"/>
          <a:chOff x="0" y="0"/>
          <a:chExt cx="0" cy="0"/>
        </a:xfrm>
      </p:grpSpPr>
      <p:sp>
        <p:nvSpPr>
          <p:cNvPr id="2" name="Text 0"/>
          <p:cNvSpPr/>
          <p:nvPr/>
        </p:nvSpPr>
        <p:spPr>
          <a:xfrm>
            <a:off x="812800" y="1656159"/>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A2FF"/>
                </a:solidFill>
                <a:latin typeface="Be Vietnam Pro" pitchFamily="34" charset="0"/>
                <a:ea typeface="Be Vietnam Pro" pitchFamily="34" charset="-122"/>
                <a:cs typeface="Be Vietnam Pro" pitchFamily="34" charset="-120"/>
              </a:rPr>
              <a:t>QUẢN TRỊ</a:t>
            </a:r>
            <a:endParaRPr lang="en-US" sz="1200" dirty="0"/>
          </a:p>
        </p:txBody>
      </p:sp>
      <p:sp>
        <p:nvSpPr>
          <p:cNvPr id="3" name="Text 1"/>
          <p:cNvSpPr/>
          <p:nvPr>
            <p:ph type="title"/>
          </p:nvPr>
        </p:nvSpPr>
        <p:spPr>
          <a:xfrm>
            <a:off x="812800" y="2021880"/>
            <a:ext cx="3139440"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2EC"/>
                </a:solidFill>
                <a:latin typeface="Be Vietnam Pro" pitchFamily="34" charset="0"/>
                <a:ea typeface="Be Vietnam Pro" pitchFamily="34" charset="-122"/>
                <a:cs typeface="Be Vietnam Pro" pitchFamily="34" charset="-120"/>
              </a:rPr>
              <a:t>Đổi giá hàng loạt</a:t>
            </a:r>
            <a:endParaRPr lang="en-US" sz="3200" dirty="0"/>
          </a:p>
        </p:txBody>
      </p:sp>
      <p:sp>
        <p:nvSpPr>
          <p:cNvPr id="4" name="Text 2"/>
          <p:cNvSpPr/>
          <p:nvPr/>
        </p:nvSpPr>
        <p:spPr>
          <a:xfrm>
            <a:off x="897382" y="3068241"/>
            <a:ext cx="3047238" cy="21590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Theo sản phẩm hoặc cả danh mục</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 làm tròn đến 1.000 đồng, hoặc số tiền</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Tất cả hoặc không gì cả</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Chỉ đổi biến thể đang bán</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Ghi lịch sử: giá cũ, giá mới, ai, lúc nào</a:t>
            </a:r>
            <a:endParaRPr lang="en-US" sz="1400" dirty="0"/>
          </a:p>
        </p:txBody>
      </p:sp>
      <p:sp>
        <p:nvSpPr>
          <p:cNvPr id="5" name="Shape 3"/>
          <p:cNvSpPr/>
          <p:nvPr/>
        </p:nvSpPr>
        <p:spPr>
          <a:xfrm>
            <a:off x="4267200" y="1457325"/>
            <a:ext cx="7112000" cy="3943350"/>
          </a:xfrm>
          <a:prstGeom prst="roundRect">
            <a:avLst>
              <a:gd name="adj" fmla="val 2576"/>
            </a:avLst>
          </a:prstGeom>
          <a:solidFill>
            <a:srgbClr val="181A21"/>
          </a:solidFill>
          <a:ln/>
        </p:spPr>
      </p:sp>
      <p:pic>
        <p:nvPicPr>
          <p:cNvPr id="6" name="Image 0" descr="Lịch sử đổi giá: bốn cấu hình Mac Mini tăng 2 phần trăm, người đổi Administrator">    </p:cNvPr>
          <p:cNvPicPr>
            <a:picLocks noChangeAspect="1"/>
          </p:cNvPicPr>
          <p:nvPr/>
        </p:nvPicPr>
        <p:blipFill>
          <a:blip r:embed="rId1"/>
          <a:srcRect l="-101" r="-101" t="0" b="0"/>
          <a:stretch/>
        </p:blipFill>
        <p:spPr>
          <a:xfrm>
            <a:off x="4273550" y="1463675"/>
            <a:ext cx="7099300" cy="3930650"/>
          </a:xfrm>
          <a:prstGeom prst="roundRect">
            <a:avLst>
              <a:gd name="adj" fmla="val 2423"/>
            </a:avLst>
          </a:prstGeom>
        </p:spPr>
      </p:pic>
      <p:sp>
        <p:nvSpPr>
          <p:cNvPr id="7" name="Shape 4"/>
          <p:cNvSpPr/>
          <p:nvPr/>
        </p:nvSpPr>
        <p:spPr>
          <a:xfrm>
            <a:off x="4270375" y="1460500"/>
            <a:ext cx="7105650" cy="3937000"/>
          </a:xfrm>
          <a:prstGeom prst="roundRect">
            <a:avLst>
              <a:gd name="adj" fmla="val 2500"/>
            </a:avLst>
          </a:prstGeom>
          <a:noFill/>
          <a:ln w="6350">
            <a:solidFill>
              <a:srgbClr val="2A2D38"/>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0F13"/>
        </a:solidFill>
      </p:bgPr>
    </p:bg>
    <p:spTree>
      <p:nvGrpSpPr>
        <p:cNvPr id="1" name=""/>
        <p:cNvGrpSpPr/>
        <p:nvPr/>
      </p:nvGrpSpPr>
      <p:grpSpPr>
        <a:xfrm>
          <a:off x="0" y="0"/>
          <a:ext cx="0" cy="0"/>
          <a:chOff x="0" y="0"/>
          <a:chExt cx="0" cy="0"/>
        </a:xfrm>
      </p:grpSpPr>
      <p:sp>
        <p:nvSpPr>
          <p:cNvPr id="2" name="Text 0"/>
          <p:cNvSpPr/>
          <p:nvPr/>
        </p:nvSpPr>
        <p:spPr>
          <a:xfrm>
            <a:off x="812800" y="1922859"/>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A2FF"/>
                </a:solidFill>
                <a:latin typeface="Be Vietnam Pro" pitchFamily="34" charset="0"/>
                <a:ea typeface="Be Vietnam Pro" pitchFamily="34" charset="-122"/>
                <a:cs typeface="Be Vietnam Pro" pitchFamily="34" charset="-120"/>
              </a:rPr>
              <a:t>NHÂN VIÊN</a:t>
            </a:r>
            <a:endParaRPr lang="en-US" sz="1200" dirty="0"/>
          </a:p>
        </p:txBody>
      </p:sp>
      <p:sp>
        <p:nvSpPr>
          <p:cNvPr id="3" name="Text 1"/>
          <p:cNvSpPr/>
          <p:nvPr>
            <p:ph type="title"/>
          </p:nvPr>
        </p:nvSpPr>
        <p:spPr>
          <a:xfrm>
            <a:off x="812800" y="2288580"/>
            <a:ext cx="3139440"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2EC"/>
                </a:solidFill>
                <a:latin typeface="Be Vietnam Pro" pitchFamily="34" charset="0"/>
                <a:ea typeface="Be Vietnam Pro" pitchFamily="34" charset="-122"/>
                <a:cs typeface="Be Vietnam Pro" pitchFamily="34" charset="-120"/>
              </a:rPr>
              <a:t>Nhập kho có phiếu</a:t>
            </a:r>
            <a:endParaRPr lang="en-US" sz="3200" dirty="0"/>
          </a:p>
        </p:txBody>
      </p:sp>
      <p:sp>
        <p:nvSpPr>
          <p:cNvPr id="4" name="Text 2"/>
          <p:cNvSpPr/>
          <p:nvPr/>
        </p:nvSpPr>
        <p:spPr>
          <a:xfrm>
            <a:off x="897382" y="3334941"/>
            <a:ext cx="3047238" cy="16256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Một phiếu nhiều dòng: SKU, số lượng, giá nhập</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Ghi tồn trước và sau từng dòng</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Bấm Back rồi lưu lại: không cộng kho hai lần</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Trang tồn kho cho mọi biến thể</a:t>
            </a:r>
            <a:endParaRPr lang="en-US" sz="1400" dirty="0"/>
          </a:p>
        </p:txBody>
      </p:sp>
      <p:sp>
        <p:nvSpPr>
          <p:cNvPr id="5" name="Shape 3"/>
          <p:cNvSpPr/>
          <p:nvPr/>
        </p:nvSpPr>
        <p:spPr>
          <a:xfrm>
            <a:off x="4267200" y="1692275"/>
            <a:ext cx="7112000" cy="3473450"/>
          </a:xfrm>
          <a:prstGeom prst="roundRect">
            <a:avLst>
              <a:gd name="adj" fmla="val 2925"/>
            </a:avLst>
          </a:prstGeom>
          <a:solidFill>
            <a:srgbClr val="181A21"/>
          </a:solidFill>
          <a:ln/>
        </p:spPr>
      </p:sp>
      <p:pic>
        <p:nvPicPr>
          <p:cNvPr id="6" name="Image 0" descr="Phiếu nhập số 1: hai dòng iPhone 18 Pro Max, số lượng, giá nhập, tồn trước và sau">    </p:cNvPr>
          <p:cNvPicPr>
            <a:picLocks noChangeAspect="1"/>
          </p:cNvPicPr>
          <p:nvPr/>
        </p:nvPicPr>
        <p:blipFill>
          <a:blip r:embed="rId1"/>
          <a:srcRect l="-67" r="-67" t="0" b="0"/>
          <a:stretch/>
        </p:blipFill>
        <p:spPr>
          <a:xfrm>
            <a:off x="4273550" y="1698625"/>
            <a:ext cx="7099300" cy="3460750"/>
          </a:xfrm>
          <a:prstGeom prst="roundRect">
            <a:avLst>
              <a:gd name="adj" fmla="val 2752"/>
            </a:avLst>
          </a:prstGeom>
        </p:spPr>
      </p:pic>
      <p:sp>
        <p:nvSpPr>
          <p:cNvPr id="7" name="Shape 4"/>
          <p:cNvSpPr/>
          <p:nvPr/>
        </p:nvSpPr>
        <p:spPr>
          <a:xfrm>
            <a:off x="4270375" y="1695450"/>
            <a:ext cx="7105650" cy="3467100"/>
          </a:xfrm>
          <a:prstGeom prst="roundRect">
            <a:avLst>
              <a:gd name="adj" fmla="val 2839"/>
            </a:avLst>
          </a:prstGeom>
          <a:noFill/>
          <a:ln w="6350">
            <a:solidFill>
              <a:srgbClr val="2A2D38"/>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0F13"/>
        </a:solidFill>
      </p:bgPr>
    </p:bg>
    <p:spTree>
      <p:nvGrpSpPr>
        <p:cNvPr id="1" name=""/>
        <p:cNvGrpSpPr/>
        <p:nvPr/>
      </p:nvGrpSpPr>
      <p:grpSpPr>
        <a:xfrm>
          <a:off x="0" y="0"/>
          <a:ext cx="0" cy="0"/>
          <a:chOff x="0" y="0"/>
          <a:chExt cx="0" cy="0"/>
        </a:xfrm>
      </p:grpSpPr>
      <p:sp>
        <p:nvSpPr>
          <p:cNvPr id="2" name="Text 0"/>
          <p:cNvSpPr/>
          <p:nvPr/>
        </p:nvSpPr>
        <p:spPr>
          <a:xfrm>
            <a:off x="812800" y="18796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A2FF"/>
                </a:solidFill>
                <a:latin typeface="Be Vietnam Pro" pitchFamily="34" charset="0"/>
                <a:ea typeface="Be Vietnam Pro" pitchFamily="34" charset="-122"/>
                <a:cs typeface="Be Vietnam Pro" pitchFamily="34" charset="-120"/>
              </a:rPr>
              <a:t>NHÂN VIÊN</a:t>
            </a:r>
            <a:endParaRPr lang="en-US" sz="1200" dirty="0"/>
          </a:p>
        </p:txBody>
      </p:sp>
      <p:sp>
        <p:nvSpPr>
          <p:cNvPr id="3" name="Text 1"/>
          <p:cNvSpPr/>
          <p:nvPr>
            <p:ph type="title"/>
          </p:nvPr>
        </p:nvSpPr>
        <p:spPr>
          <a:xfrm>
            <a:off x="812800" y="2245320"/>
            <a:ext cx="313944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2EC"/>
                </a:solidFill>
                <a:latin typeface="Be Vietnam Pro" pitchFamily="34" charset="0"/>
                <a:ea typeface="Be Vietnam Pro" pitchFamily="34" charset="-122"/>
                <a:cs typeface="Be Vietnam Pro" pitchFamily="34" charset="-120"/>
              </a:rPr>
              <a:t>Bán tại quầy</a:t>
            </a:r>
            <a:endParaRPr lang="en-US" sz="3200" dirty="0"/>
          </a:p>
        </p:txBody>
      </p:sp>
      <p:sp>
        <p:nvSpPr>
          <p:cNvPr id="4" name="Text 2"/>
          <p:cNvSpPr/>
          <p:nvPr/>
        </p:nvSpPr>
        <p:spPr>
          <a:xfrm>
            <a:off x="897382" y="2844701"/>
            <a:ext cx="3047238" cy="21590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Ghi thành đơn hàng kênh Tại quầy</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Khách lẻ, hoặc email để gắn vào tài khoản</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Giá khuyến mãi như online, đã gồm VAT</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Tiền mặt hoặc chuyển khoản, trừ kho trong một transaction</a:t>
            </a:r>
            <a:endParaRPr lang="en-US" sz="1400" dirty="0"/>
          </a:p>
        </p:txBody>
      </p:sp>
      <p:sp>
        <p:nvSpPr>
          <p:cNvPr id="5" name="Shape 3"/>
          <p:cNvSpPr/>
          <p:nvPr/>
        </p:nvSpPr>
        <p:spPr>
          <a:xfrm>
            <a:off x="4267200" y="1825625"/>
            <a:ext cx="7112000" cy="3206750"/>
          </a:xfrm>
          <a:prstGeom prst="roundRect">
            <a:avLst>
              <a:gd name="adj" fmla="val 3168"/>
            </a:avLst>
          </a:prstGeom>
          <a:solidFill>
            <a:srgbClr val="181A21"/>
          </a:solidFill>
          <a:ln/>
        </p:spPr>
      </p:sp>
      <p:pic>
        <p:nvPicPr>
          <p:cNvPr id="6" name="Image 0" descr="Form bán tại quầy: hai dòng iPhone với giá khuyến mãi, tổng 119.890.000 VNĐ đã gồm VAT">    </p:cNvPr>
          <p:cNvPicPr>
            <a:picLocks noChangeAspect="1"/>
          </p:cNvPicPr>
          <p:nvPr/>
        </p:nvPicPr>
        <p:blipFill>
          <a:blip r:embed="rId1"/>
          <a:srcRect l="-145" r="-145" t="0" b="0"/>
          <a:stretch/>
        </p:blipFill>
        <p:spPr>
          <a:xfrm>
            <a:off x="4273550" y="1831975"/>
            <a:ext cx="7099300" cy="3194050"/>
          </a:xfrm>
          <a:prstGeom prst="roundRect">
            <a:avLst>
              <a:gd name="adj" fmla="val 2982"/>
            </a:avLst>
          </a:prstGeom>
        </p:spPr>
      </p:pic>
      <p:sp>
        <p:nvSpPr>
          <p:cNvPr id="7" name="Shape 4"/>
          <p:cNvSpPr/>
          <p:nvPr/>
        </p:nvSpPr>
        <p:spPr>
          <a:xfrm>
            <a:off x="4270375" y="1828800"/>
            <a:ext cx="7105650" cy="3200400"/>
          </a:xfrm>
          <a:prstGeom prst="roundRect">
            <a:avLst>
              <a:gd name="adj" fmla="val 3075"/>
            </a:avLst>
          </a:prstGeom>
          <a:noFill/>
          <a:ln w="6350">
            <a:solidFill>
              <a:srgbClr val="2A2D38"/>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BE0"/>
                </a:solidFill>
                <a:latin typeface="Be Vietnam Pro" pitchFamily="34" charset="0"/>
                <a:ea typeface="Be Vietnam Pro" pitchFamily="34" charset="-122"/>
                <a:cs typeface="Be Vietnam Pro" pitchFamily="34" charset="-120"/>
              </a:rPr>
              <a:t>ASP.NET CORE</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61C"/>
                </a:solidFill>
                <a:latin typeface="Be Vietnam Pro" pitchFamily="34" charset="0"/>
                <a:ea typeface="Be Vietnam Pro" pitchFamily="34" charset="-122"/>
                <a:cs typeface="Be Vietnam Pro" pitchFamily="34" charset="-120"/>
              </a:rPr>
              <a:t>Cơ chế có sẵn được dùng</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061"/>
          <a:ext cx="10553700" cy="3199408"/>
        </p:xfrm>
        <a:graphic>
          <a:graphicData uri="http://schemas.openxmlformats.org/drawingml/2006/table">
            <a:tbl>
              <a:tblPr/>
              <a:tblGrid>
                <a:gridCol w="3166110"/>
                <a:gridCol w="7387590"/>
              </a:tblGrid>
              <a:tr h="385961">
                <a:tc>
                  <a:txBody>
                    <a:bodyPr/>
                    <a:lstStyle/>
                    <a:p>
                      <a:pPr indent="0" marL="0">
                        <a:lnSpc>
                          <a:spcPts val="1960"/>
                        </a:lnSpc>
                        <a:buNone/>
                      </a:pPr>
                      <a:r>
                        <a:rPr lang="en-US" sz="1400" b="1" dirty="0">
                          <a:solidFill>
                            <a:srgbClr val="14161C"/>
                          </a:solidFill>
                          <a:latin typeface="Be Vietnam Pro" pitchFamily="34" charset="0"/>
                          <a:ea typeface="Be Vietnam Pro" pitchFamily="34" charset="-122"/>
                          <a:cs typeface="Be Vietnam Pro" pitchFamily="34" charset="-120"/>
                        </a:rPr>
                        <a:t>Cơ chế</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960"/>
                        </a:lnSpc>
                        <a:buNone/>
                      </a:pPr>
                      <a:r>
                        <a:rPr lang="en-US" sz="1400" b="1" dirty="0">
                          <a:solidFill>
                            <a:srgbClr val="14161C"/>
                          </a:solidFill>
                          <a:latin typeface="Be Vietnam Pro" pitchFamily="34" charset="0"/>
                          <a:ea typeface="Be Vietnam Pro" pitchFamily="34" charset="-122"/>
                          <a:cs typeface="Be Vietnam Pro" pitchFamily="34" charset="-120"/>
                        </a:rPr>
                        <a:t>Dùng ở đâu trong dự án</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385961">
                <a:tc>
                  <a:txBody>
                    <a:bodyPr/>
                    <a:lstStyle/>
                    <a:p>
                      <a:pPr indent="0" marL="0">
                        <a:lnSpc>
                          <a:spcPts val="1960"/>
                        </a:lnSpc>
                        <a:buNone/>
                      </a:pPr>
                      <a:r>
                        <a:rPr lang="en-US" sz="1400" dirty="0">
                          <a:solidFill>
                            <a:srgbClr val="14161C"/>
                          </a:solidFill>
                          <a:latin typeface="Be Vietnam Pro" pitchFamily="34" charset="0"/>
                          <a:ea typeface="Be Vietnam Pro" pitchFamily="34" charset="-122"/>
                          <a:cs typeface="Be Vietnam Pro" pitchFamily="34" charset="-120"/>
                        </a:rPr>
                        <a:t>Identity</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4161C"/>
                          </a:solidFill>
                          <a:latin typeface="Be Vietnam Pro" pitchFamily="34" charset="0"/>
                          <a:ea typeface="Be Vietnam Pro" pitchFamily="34" charset="-122"/>
                          <a:cs typeface="Be Vietnam Pro" pitchFamily="34" charset="-120"/>
                        </a:rPr>
                        <a:t>Đăng nhập, khóa sau 5 lần sai, vai trò, đổi vai trò thì phiên cũ hết hiệu lực ngay</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634802">
                <a:tc>
                  <a:txBody>
                    <a:bodyPr/>
                    <a:lstStyle/>
                    <a:p>
                      <a:pPr indent="0" marL="0">
                        <a:lnSpc>
                          <a:spcPts val="1960"/>
                        </a:lnSpc>
                        <a:buNone/>
                      </a:pPr>
                      <a:r>
                        <a:rPr lang="en-US" sz="1400" dirty="0">
                          <a:solidFill>
                            <a:srgbClr val="14161C"/>
                          </a:solidFill>
                          <a:latin typeface="Be Vietnam Pro" pitchFamily="34" charset="0"/>
                          <a:ea typeface="Be Vietnam Pro" pitchFamily="34" charset="-122"/>
                          <a:cs typeface="Be Vietnam Pro" pitchFamily="34" charset="-120"/>
                        </a:rPr>
                        <a:t>Areas, [Authorize]</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4161C"/>
                          </a:solidFill>
                          <a:latin typeface="Be Vietnam Pro" pitchFamily="34" charset="0"/>
                          <a:ea typeface="Be Vietnam Pro" pitchFamily="34" charset="-122"/>
                          <a:cs typeface="Be Vietnam Pro" pitchFamily="34" charset="-120"/>
                        </a:rPr>
                        <a:t>Khu /Admin; Employee vào đơn hàng, báo cáo, đánh giá, khuyến mãi, giá, nhập kho, bán tại quầy; Admin vào mọi trang</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161C"/>
                          </a:solidFill>
                          <a:latin typeface="Be Vietnam Pro" pitchFamily="34" charset="0"/>
                          <a:ea typeface="Be Vietnam Pro" pitchFamily="34" charset="-122"/>
                          <a:cs typeface="Be Vietnam Pro" pitchFamily="34" charset="-120"/>
                        </a:rPr>
                        <a:t>EF Core migrations</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4161C"/>
                          </a:solidFill>
                          <a:latin typeface="Be Vietnam Pro" pitchFamily="34" charset="0"/>
                          <a:ea typeface="Be Vietnam Pro" pitchFamily="34" charset="-122"/>
                          <a:cs typeface="Be Vietnam Pro" pitchFamily="34" charset="-120"/>
                        </a:rPr>
                        <a:t>Tạo và cập nhật CSDL, nạp sẵn danh mục sản phẩm và voucher mẫu</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161C"/>
                          </a:solidFill>
                          <a:latin typeface="Be Vietnam Pro" pitchFamily="34" charset="0"/>
                          <a:ea typeface="Be Vietnam Pro" pitchFamily="34" charset="-122"/>
                          <a:cs typeface="Be Vietnam Pro" pitchFamily="34" charset="-120"/>
                        </a:rPr>
                        <a:t>Kiểm tra dữ liệu, anti-forgery</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4161C"/>
                          </a:solidFill>
                          <a:latin typeface="Be Vietnam Pro" pitchFamily="34" charset="0"/>
                          <a:ea typeface="Be Vietnam Pro" pitchFamily="34" charset="-122"/>
                          <a:cs typeface="Be Vietnam Pro" pitchFamily="34" charset="-120"/>
                        </a:rPr>
                        <a:t>Mọi form POST có token; số không đọc được thì báo lỗi, không lưu</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161C"/>
                          </a:solidFill>
                          <a:latin typeface="Be Vietnam Pro" pitchFamily="34" charset="0"/>
                          <a:ea typeface="Be Vietnam Pro" pitchFamily="34" charset="-122"/>
                          <a:cs typeface="Be Vietnam Pro" pitchFamily="34" charset="-120"/>
                        </a:rPr>
                        <a:t>Dependency injection, options</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4161C"/>
                          </a:solidFill>
                          <a:latin typeface="Be Vietnam Pro" pitchFamily="34" charset="0"/>
                          <a:ea typeface="Be Vietnam Pro" pitchFamily="34" charset="-122"/>
                          <a:cs typeface="Be Vietnam Pro" pitchFamily="34" charset="-120"/>
                        </a:rPr>
                        <a:t>Service theo từng yêu cầu; cấu hình email, thanh toán được kiểm tra khi khởi động</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634802">
                <a:tc>
                  <a:txBody>
                    <a:bodyPr/>
                    <a:lstStyle/>
                    <a:p>
                      <a:pPr indent="0" marL="0">
                        <a:lnSpc>
                          <a:spcPts val="1960"/>
                        </a:lnSpc>
                        <a:buNone/>
                      </a:pPr>
                      <a:r>
                        <a:rPr lang="en-US" sz="1400" dirty="0">
                          <a:solidFill>
                            <a:srgbClr val="14161C"/>
                          </a:solidFill>
                          <a:latin typeface="Be Vietnam Pro" pitchFamily="34" charset="0"/>
                          <a:ea typeface="Be Vietnam Pro" pitchFamily="34" charset="-122"/>
                          <a:cs typeface="Be Vietnam Pro" pitchFamily="34" charset="-120"/>
                        </a:rPr>
                        <a:t>View component, partial, tag helper</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4161C"/>
                          </a:solidFill>
                          <a:latin typeface="Be Vietnam Pro" pitchFamily="34" charset="0"/>
                          <a:ea typeface="Be Vietnam Pro" pitchFamily="34" charset="-122"/>
                          <a:cs typeface="Be Vietnam Pro" pitchFamily="34" charset="-120"/>
                        </a:rPr>
                        <a:t>Số lượng giỏ hàng, khối đánh giá, nút so sánh, liên kết lọc giá</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A2FF"/>
                </a:solidFill>
                <a:latin typeface="Be Vietnam Pro" pitchFamily="34" charset="0"/>
                <a:ea typeface="Be Vietnam Pro" pitchFamily="34" charset="-122"/>
                <a:cs typeface="Be Vietnam Pro" pitchFamily="34" charset="-120"/>
              </a:rPr>
              <a:t>KIỂM THỬ</a:t>
            </a:r>
            <a:endParaRPr lang="en-US" sz="1200" dirty="0"/>
          </a:p>
        </p:txBody>
      </p:sp>
      <p:sp>
        <p:nvSpPr>
          <p:cNvPr id="3" name="Text 1"/>
          <p:cNvSpPr/>
          <p:nvPr>
            <p:ph type="title"/>
          </p:nvPr>
        </p:nvSpPr>
        <p:spPr>
          <a:xfrm>
            <a:off x="812800" y="1127720"/>
            <a:ext cx="11379200"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2EC"/>
                </a:solidFill>
                <a:latin typeface="Be Vietnam Pro" pitchFamily="34" charset="0"/>
                <a:ea typeface="Be Vietnam Pro" pitchFamily="34" charset="-122"/>
                <a:cs typeface="Be Vietnam Pro" pitchFamily="34" charset="-120"/>
              </a:rPr>
              <a:t>Kiểm thử trước, kiểm tra trên trình duyệt thật</a:t>
            </a:r>
            <a:endParaRPr lang="en-US" sz="3600" dirty="0"/>
          </a:p>
        </p:txBody>
      </p:sp>
      <p:sp>
        <p:nvSpPr>
          <p:cNvPr id="4" name="Text 2"/>
          <p:cNvSpPr/>
          <p:nvPr/>
        </p:nvSpPr>
        <p:spPr>
          <a:xfrm>
            <a:off x="812800" y="1986161"/>
            <a:ext cx="348823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7FA2FF"/>
                </a:solidFill>
                <a:latin typeface="Be Vietnam Pro" pitchFamily="34" charset="0"/>
                <a:ea typeface="Be Vietnam Pro" pitchFamily="34" charset="-122"/>
                <a:cs typeface="Be Vietnam Pro" pitchFamily="34" charset="-120"/>
              </a:rPr>
              <a:t>647</a:t>
            </a:r>
            <a:endParaRPr lang="en-US" sz="6000" dirty="0"/>
          </a:p>
        </p:txBody>
      </p:sp>
      <p:sp>
        <p:nvSpPr>
          <p:cNvPr id="5" name="Text 3"/>
          <p:cNvSpPr/>
          <p:nvPr/>
        </p:nvSpPr>
        <p:spPr>
          <a:xfrm>
            <a:off x="812800" y="2824361"/>
            <a:ext cx="348823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CCD6"/>
                </a:solidFill>
                <a:latin typeface="Be Vietnam Pro" pitchFamily="34" charset="0"/>
                <a:ea typeface="Be Vietnam Pro" pitchFamily="34" charset="-122"/>
                <a:cs typeface="Be Vietnam Pro" pitchFamily="34" charset="-120"/>
              </a:rPr>
              <a:t>test tự động (xUnit), viết test fail trước rồi mới viết code</a:t>
            </a:r>
            <a:endParaRPr lang="en-US" sz="1500" dirty="0"/>
          </a:p>
        </p:txBody>
      </p:sp>
      <p:sp>
        <p:nvSpPr>
          <p:cNvPr id="6" name="Text 4"/>
          <p:cNvSpPr/>
          <p:nvPr/>
        </p:nvSpPr>
        <p:spPr>
          <a:xfrm>
            <a:off x="4402634" y="1986161"/>
            <a:ext cx="348823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7FA2FF"/>
                </a:solidFill>
                <a:latin typeface="Be Vietnam Pro" pitchFamily="34" charset="0"/>
                <a:ea typeface="Be Vietnam Pro" pitchFamily="34" charset="-122"/>
                <a:cs typeface="Be Vietnam Pro" pitchFamily="34" charset="-120"/>
              </a:rPr>
              <a:t>437</a:t>
            </a:r>
            <a:endParaRPr lang="en-US" sz="6000" dirty="0"/>
          </a:p>
        </p:txBody>
      </p:sp>
      <p:sp>
        <p:nvSpPr>
          <p:cNvPr id="7" name="Text 5"/>
          <p:cNvSpPr/>
          <p:nvPr/>
        </p:nvSpPr>
        <p:spPr>
          <a:xfrm>
            <a:off x="4402634" y="2824361"/>
            <a:ext cx="348823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CCD6"/>
                </a:solidFill>
                <a:latin typeface="Be Vietnam Pro" pitchFamily="34" charset="0"/>
                <a:ea typeface="Be Vietnam Pro" pitchFamily="34" charset="-122"/>
                <a:cs typeface="Be Vietnam Pro" pitchFamily="34" charset="-120"/>
              </a:rPr>
              <a:t>bước kiểm tra trong 16 script Playwright, mọi trang ở 5 cỡ màn hình từ 320px đến 1440px</a:t>
            </a:r>
            <a:endParaRPr lang="en-US" sz="1500" dirty="0"/>
          </a:p>
        </p:txBody>
      </p:sp>
      <p:sp>
        <p:nvSpPr>
          <p:cNvPr id="8" name="Text 6"/>
          <p:cNvSpPr/>
          <p:nvPr/>
        </p:nvSpPr>
        <p:spPr>
          <a:xfrm>
            <a:off x="7992467" y="1986161"/>
            <a:ext cx="348823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0A35E"/>
                </a:solidFill>
                <a:latin typeface="Be Vietnam Pro" pitchFamily="34" charset="0"/>
                <a:ea typeface="Be Vietnam Pro" pitchFamily="34" charset="-122"/>
                <a:cs typeface="Be Vietnam Pro" pitchFamily="34" charset="-120"/>
              </a:rPr>
              <a:t>28</a:t>
            </a:r>
            <a:endParaRPr lang="en-US" sz="6000" dirty="0"/>
          </a:p>
        </p:txBody>
      </p:sp>
      <p:sp>
        <p:nvSpPr>
          <p:cNvPr id="9" name="Text 7"/>
          <p:cNvSpPr/>
          <p:nvPr/>
        </p:nvSpPr>
        <p:spPr>
          <a:xfrm>
            <a:off x="7992467" y="2824361"/>
            <a:ext cx="348823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CCD6"/>
                </a:solidFill>
                <a:latin typeface="Be Vietnam Pro" pitchFamily="34" charset="0"/>
                <a:ea typeface="Be Vietnam Pro" pitchFamily="34" charset="-122"/>
                <a:cs typeface="Be Vietnam Pro" pitchFamily="34" charset="-120"/>
              </a:rPr>
              <a:t>pull request đã merge (#12 đến #40), mỗi PR qua cổng build, test, format trước khi merge</a:t>
            </a:r>
            <a:endParaRPr lang="en-US" sz="1500" dirty="0"/>
          </a:p>
        </p:txBody>
      </p:sp>
      <p:sp>
        <p:nvSpPr>
          <p:cNvPr id="10" name="Text 8"/>
          <p:cNvSpPr/>
          <p:nvPr/>
        </p:nvSpPr>
        <p:spPr>
          <a:xfrm>
            <a:off x="812800" y="3980061"/>
            <a:ext cx="1088339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A8ACB8"/>
                </a:solidFill>
                <a:latin typeface="Be Vietnam Pro" pitchFamily="34" charset="0"/>
                <a:ea typeface="Be Vietnam Pro" pitchFamily="34" charset="-122"/>
                <a:cs typeface="Be Vietnam Pro" pitchFamily="34" charset="-120"/>
              </a:rPr>
              <a:t>Thử cả tình huống chạy song song: hai người bấm cùng lúc, hai tab, giá đổi giữa chừng. Cố tình làm hỏng code (mutation) để chắc test bắt được.</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BE0"/>
                </a:solidFill>
                <a:latin typeface="Be Vietnam Pro" pitchFamily="34" charset="0"/>
                <a:ea typeface="Be Vietnam Pro" pitchFamily="34" charset="-122"/>
                <a:cs typeface="Be Vietnam Pro" pitchFamily="34" charset="-120"/>
              </a:rPr>
              <a:t>KẾT LUẬN</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61C"/>
                </a:solidFill>
                <a:latin typeface="Be Vietnam Pro" pitchFamily="34" charset="0"/>
                <a:ea typeface="Be Vietnam Pro" pitchFamily="34" charset="-122"/>
                <a:cs typeface="Be Vietnam Pro" pitchFamily="34" charset="-120"/>
              </a:rPr>
              <a:t>Hạn chế và hướng phát triển</a:t>
            </a:r>
            <a:endParaRPr lang="en-US" sz="3600" dirty="0"/>
          </a:p>
        </p:txBody>
      </p:sp>
      <p:sp>
        <p:nvSpPr>
          <p:cNvPr id="4" name="Shape 2"/>
          <p:cNvSpPr/>
          <p:nvPr/>
        </p:nvSpPr>
        <p:spPr>
          <a:xfrm>
            <a:off x="815975" y="1938536"/>
            <a:ext cx="5181600" cy="2223691"/>
          </a:xfrm>
          <a:prstGeom prst="roundRect">
            <a:avLst>
              <a:gd name="adj" fmla="val 5568"/>
            </a:avLst>
          </a:prstGeom>
          <a:solidFill>
            <a:srgbClr val="FFFFFF"/>
          </a:solidFill>
          <a:ln w="6350">
            <a:solidFill>
              <a:srgbClr val="DDD9CF"/>
            </a:solidFill>
            <a:prstDash val="solid"/>
          </a:ln>
        </p:spPr>
      </p:sp>
      <p:sp>
        <p:nvSpPr>
          <p:cNvPr id="5" name="Text 3"/>
          <p:cNvSpPr/>
          <p:nvPr/>
        </p:nvSpPr>
        <p:spPr>
          <a:xfrm>
            <a:off x="1073150" y="2195711"/>
            <a:ext cx="480726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61C"/>
                </a:solidFill>
                <a:latin typeface="Be Vietnam Pro" pitchFamily="34" charset="0"/>
                <a:ea typeface="Be Vietnam Pro" pitchFamily="34" charset="-122"/>
                <a:cs typeface="Be Vietnam Pro" pitchFamily="34" charset="-120"/>
              </a:rPr>
              <a:t>Hạn chế</a:t>
            </a:r>
            <a:endParaRPr lang="en-US" sz="1800" dirty="0"/>
          </a:p>
        </p:txBody>
      </p:sp>
      <p:sp>
        <p:nvSpPr>
          <p:cNvPr id="6" name="Text 4"/>
          <p:cNvSpPr/>
          <p:nvPr/>
        </p:nvSpPr>
        <p:spPr>
          <a:xfrm>
            <a:off x="1157732" y="2571552"/>
            <a:ext cx="4715066" cy="13589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4A5060"/>
                </a:solidFill>
                <a:latin typeface="Be Vietnam Pro" pitchFamily="34" charset="0"/>
                <a:ea typeface="Be Vietnam Pro" pitchFamily="34" charset="-122"/>
                <a:cs typeface="Be Vietnam Pro" pitchFamily="34" charset="-120"/>
              </a:rPr>
              <a:t>VNPay, MoMo chạy qua cổng giả lập, chưa có sandbox thật</a:t>
            </a:r>
            <a:endParaRPr lang="en-US" sz="1400" dirty="0"/>
          </a:p>
          <a:p>
            <a:pPr algn="l" marL="169418" indent="-169418">
              <a:lnSpc>
                <a:spcPts val="2100"/>
              </a:lnSpc>
              <a:buSzPct val="100000"/>
              <a:buChar char="•"/>
            </a:pPr>
            <a:r>
              <a:rPr lang="en-US" sz="1400" dirty="0">
                <a:solidFill>
                  <a:srgbClr val="4A5060"/>
                </a:solidFill>
                <a:latin typeface="Be Vietnam Pro" pitchFamily="34" charset="0"/>
                <a:ea typeface="Be Vietnam Pro" pitchFamily="34" charset="-122"/>
                <a:cs typeface="Be Vietnam Pro" pitchFamily="34" charset="-120"/>
              </a:rPr>
              <a:t>Chưa giới hạn số lần xin gửi mã OTP (đoán mã đã giới hạn 5 lần)</a:t>
            </a:r>
            <a:endParaRPr lang="en-US" sz="1400" dirty="0"/>
          </a:p>
          <a:p>
            <a:pPr algn="l" marL="169418" indent="-169418">
              <a:lnSpc>
                <a:spcPts val="2100"/>
              </a:lnSpc>
              <a:buSzPct val="100000"/>
              <a:buChar char="•"/>
            </a:pPr>
            <a:r>
              <a:rPr lang="en-US" sz="1400" dirty="0">
                <a:solidFill>
                  <a:srgbClr val="4A5060"/>
                </a:solidFill>
                <a:latin typeface="Be Vietnam Pro" pitchFamily="34" charset="0"/>
                <a:ea typeface="Be Vietnam Pro" pitchFamily="34" charset="-122"/>
                <a:cs typeface="Be Vietnam Pro" pitchFamily="34" charset="-120"/>
              </a:rPr>
              <a:t>Phát triển trên SQLite, chưa chạy thử SQL Server</a:t>
            </a:r>
            <a:endParaRPr lang="en-US" sz="1400" dirty="0"/>
          </a:p>
        </p:txBody>
      </p:sp>
      <p:sp>
        <p:nvSpPr>
          <p:cNvPr id="7" name="Shape 5"/>
          <p:cNvSpPr/>
          <p:nvPr/>
        </p:nvSpPr>
        <p:spPr>
          <a:xfrm>
            <a:off x="6203950" y="1935361"/>
            <a:ext cx="5175250" cy="2230041"/>
          </a:xfrm>
          <a:prstGeom prst="roundRect">
            <a:avLst>
              <a:gd name="adj" fmla="val 5695"/>
            </a:avLst>
          </a:prstGeom>
          <a:solidFill>
            <a:srgbClr val="14161C"/>
          </a:solidFill>
          <a:ln/>
        </p:spPr>
      </p:sp>
      <p:sp>
        <p:nvSpPr>
          <p:cNvPr id="8" name="Text 6"/>
          <p:cNvSpPr/>
          <p:nvPr/>
        </p:nvSpPr>
        <p:spPr>
          <a:xfrm>
            <a:off x="6457950" y="2189361"/>
            <a:ext cx="480726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2EC"/>
                </a:solidFill>
                <a:latin typeface="Be Vietnam Pro" pitchFamily="34" charset="0"/>
                <a:ea typeface="Be Vietnam Pro" pitchFamily="34" charset="-122"/>
                <a:cs typeface="Be Vietnam Pro" pitchFamily="34" charset="-120"/>
              </a:rPr>
              <a:t>Hướng phát triển</a:t>
            </a:r>
            <a:endParaRPr lang="en-US" sz="1800" dirty="0"/>
          </a:p>
        </p:txBody>
      </p:sp>
      <p:sp>
        <p:nvSpPr>
          <p:cNvPr id="9" name="Text 7"/>
          <p:cNvSpPr/>
          <p:nvPr/>
        </p:nvSpPr>
        <p:spPr>
          <a:xfrm>
            <a:off x="6542532" y="2565202"/>
            <a:ext cx="4715066" cy="13589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Ràng buộc SKU duy nhất trong cơ sở dữ liệu</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Kết nối sandbox VNPay, MoMo thật</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Rate limiting có sẵn của ASP.NET Core cho form gửi mã</a:t>
            </a:r>
            <a:endParaRPr lang="en-US" sz="1400" dirty="0"/>
          </a:p>
          <a:p>
            <a:pPr algn="l" marL="169418" indent="-169418">
              <a:lnSpc>
                <a:spcPts val="2100"/>
              </a:lnSpc>
              <a:buSzPct val="100000"/>
              <a:buChar char="•"/>
            </a:pPr>
            <a:r>
              <a:rPr lang="en-US" sz="1400" dirty="0">
                <a:solidFill>
                  <a:srgbClr val="C9CCD6"/>
                </a:solidFill>
                <a:latin typeface="Be Vietnam Pro" pitchFamily="34" charset="0"/>
                <a:ea typeface="Be Vietnam Pro" pitchFamily="34" charset="-122"/>
                <a:cs typeface="Be Vietnam Pro" pitchFamily="34" charset="-120"/>
              </a:rPr>
              <a:t>Triển khai lên máy chủ với SQL Server</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type="title"/>
          </p:nvPr>
        </p:nvSpPr>
        <p:spPr>
          <a:xfrm>
            <a:off x="812800" y="210572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2EC"/>
                </a:solidFill>
                <a:latin typeface="Be Vietnam Pro" pitchFamily="34" charset="0"/>
                <a:ea typeface="Be Vietnam Pro" pitchFamily="34" charset="-122"/>
                <a:cs typeface="Be Vietnam Pro" pitchFamily="34" charset="-120"/>
              </a:rPr>
              <a:t>Cảm ơn thầy</a:t>
            </a:r>
            <a:endParaRPr lang="en-US" sz="6000" dirty="0"/>
          </a:p>
          <a:p>
            <a:pPr algn="l" indent="0" marL="0">
              <a:lnSpc>
                <a:spcPts val="6300"/>
              </a:lnSpc>
              <a:buNone/>
            </a:pPr>
            <a:r>
              <a:rPr lang="en-US" sz="6000" b="1" i="0" dirty="0">
                <a:solidFill>
                  <a:srgbClr val="F4F2EC"/>
                </a:solidFill>
                <a:latin typeface="Be Vietnam Pro" pitchFamily="34" charset="0"/>
                <a:ea typeface="Be Vietnam Pro" pitchFamily="34" charset="-122"/>
                <a:cs typeface="Be Vietnam Pro" pitchFamily="34" charset="-120"/>
              </a:rPr>
              <a:t>và các bạn đã lắng nghe</a:t>
            </a:r>
            <a:endParaRPr lang="en-US" sz="6000" dirty="0"/>
          </a:p>
        </p:txBody>
      </p:sp>
      <p:sp>
        <p:nvSpPr>
          <p:cNvPr id="3" name="Text 1"/>
          <p:cNvSpPr/>
          <p:nvPr/>
        </p:nvSpPr>
        <p:spPr>
          <a:xfrm>
            <a:off x="812800" y="390912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9CCD6"/>
                </a:solidFill>
                <a:latin typeface="Be Vietnam Pro" pitchFamily="34" charset="0"/>
                <a:ea typeface="Be Vietnam Pro" pitchFamily="34" charset="-122"/>
                <a:cs typeface="Be Vietnam Pro" pitchFamily="34" charset="-120"/>
              </a:rPr>
              <a:t>Em xin nhận câu hỏi và góp ý.</a:t>
            </a:r>
            <a:endParaRPr lang="en-US" sz="2200" dirty="0"/>
          </a:p>
        </p:txBody>
      </p:sp>
      <p:sp>
        <p:nvSpPr>
          <p:cNvPr id="4" name="Text 2"/>
          <p:cNvSpPr/>
          <p:nvPr/>
        </p:nvSpPr>
        <p:spPr>
          <a:xfrm>
            <a:off x="812800" y="450344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ACB8"/>
                </a:solidFill>
                <a:latin typeface="Be Vietnam Pro" pitchFamily="34" charset="0"/>
                <a:ea typeface="Be Vietnam Pro" pitchFamily="34" charset="-122"/>
                <a:cs typeface="Be Vietnam Pro" pitchFamily="34" charset="-120"/>
              </a:rPr>
              <a:t>Mã nguồn: github.com/BDucky/ASPNET-VX24TTK7-LeBinh-applestore · Lê Bình · binhl030199@tvu-onschool.edu.vn</a:t>
            </a:r>
            <a:endParaRPr lang="en-US" sz="1400" dirty="0"/>
          </a:p>
        </p:txBody>
      </p:sp>
    </p:spTree>
  </p:cSld>
  <p:clrMapOvr>
    <a:masterClrMapping/>
  </p:clrMapOvr>
</p:sld>
</file>

<file path=ppt/theme/theme1.xml><?xml version="1.0" encoding="utf-8"?>
<a:theme xmlns:a="http://schemas.openxmlformats.org/drawingml/2006/main" name="Apple Store - Chuyên đề ASP.NET">
  <a:themeElements>
    <a:clrScheme name="Apple Store - Chuyên đề ASP.NET">
      <a:dk1>
        <a:srgbClr val="0E0F13"/>
      </a:dk1>
      <a:lt1>
        <a:srgbClr val="C9CCD6"/>
      </a:lt1>
      <a:dk2>
        <a:srgbClr val="212227"/>
      </a:dk2>
      <a:lt2>
        <a:srgbClr val="9A9DA5"/>
      </a:lt2>
      <a:accent1>
        <a:srgbClr val="7FA2FF"/>
      </a:accent1>
      <a:accent2>
        <a:srgbClr val="2F5BE0"/>
      </a:accent2>
      <a:accent3>
        <a:srgbClr val="1D2A55"/>
      </a:accent3>
      <a:accent4>
        <a:srgbClr val="F0A35E"/>
      </a:accent4>
      <a:accent5>
        <a:srgbClr val="A8ACB8"/>
      </a:accent5>
      <a:accent6>
        <a:srgbClr val="4A5060"/>
      </a:accent6>
      <a:hlink>
        <a:srgbClr val="0563C1"/>
      </a:hlink>
      <a:folHlink>
        <a:srgbClr val="954F72"/>
      </a:folHlink>
    </a:clrScheme>
    <a:fontScheme name="Apple Store - Chuyên đề ASP.NET">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e Vietnam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Apple Store - Chuyên đề ASP.NET</dc:title>
  <dc:subject/>
  <dc:creator/>
  <cp:lastModifiedBy/>
  <cp:revision>1</cp:revision>
  <dcterms:created xsi:type="dcterms:W3CDTF">2026-10-13T14:48:10Z</dcterms:created>
  <dcterms:modified xsi:type="dcterms:W3CDTF">2026-10-13T14:48:10Z</dcterms:modified>
</cp:coreProperties>
</file>